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7" r:id="rId3"/>
    <p:sldId id="258"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snapToGrid="0">
      <p:cViewPr varScale="1">
        <p:scale>
          <a:sx n="72" d="100"/>
          <a:sy n="72" d="100"/>
        </p:scale>
        <p:origin x="8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Deron" userId="94abcb9d-47b2-41bd-8449-db188f00e573" providerId="ADAL" clId="{B2AA4EDB-042C-4420-8087-6B5FB9C59F30}"/>
    <pc:docChg chg="modSld">
      <pc:chgData name="Smith, Deron" userId="94abcb9d-47b2-41bd-8449-db188f00e573" providerId="ADAL" clId="{B2AA4EDB-042C-4420-8087-6B5FB9C59F30}" dt="2025-09-17T12:18:14.846" v="148" actId="20577"/>
      <pc:docMkLst>
        <pc:docMk/>
      </pc:docMkLst>
      <pc:sldChg chg="modSp mod">
        <pc:chgData name="Smith, Deron" userId="94abcb9d-47b2-41bd-8449-db188f00e573" providerId="ADAL" clId="{B2AA4EDB-042C-4420-8087-6B5FB9C59F30}" dt="2025-09-17T12:18:14.846" v="148" actId="20577"/>
        <pc:sldMkLst>
          <pc:docMk/>
          <pc:sldMk cId="2800418370" sldId="261"/>
        </pc:sldMkLst>
        <pc:spChg chg="mod">
          <ac:chgData name="Smith, Deron" userId="94abcb9d-47b2-41bd-8449-db188f00e573" providerId="ADAL" clId="{B2AA4EDB-042C-4420-8087-6B5FB9C59F30}" dt="2025-09-17T12:18:14.846" v="148" actId="20577"/>
          <ac:spMkLst>
            <pc:docMk/>
            <pc:sldMk cId="2800418370" sldId="261"/>
            <ac:spMk id="4" creationId="{47043BD6-CBF8-CE8C-FCCC-4A19478A50E4}"/>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6D1F31-A851-4CD0-BC0C-3291A0EC127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0DF5337-6264-4B8B-B578-7E2D34F114FD}">
      <dgm:prSet custT="1"/>
      <dgm:spPr/>
      <dgm:t>
        <a:bodyPr/>
        <a:lstStyle/>
        <a:p>
          <a:pPr>
            <a:lnSpc>
              <a:spcPct val="100000"/>
            </a:lnSpc>
            <a:defRPr cap="all"/>
          </a:pPr>
          <a:r>
            <a:rPr lang="en-US" sz="1200" b="1" dirty="0"/>
            <a:t>Source apportionment is a numerical procedure that is typically independent of units. </a:t>
          </a:r>
        </a:p>
      </dgm:t>
    </dgm:pt>
    <dgm:pt modelId="{9DEF9327-790F-4B89-96CD-4917B9F524E2}" type="parTrans" cxnId="{96206768-B1B0-4105-A879-1C1A903E4A4B}">
      <dgm:prSet/>
      <dgm:spPr/>
      <dgm:t>
        <a:bodyPr/>
        <a:lstStyle/>
        <a:p>
          <a:endParaRPr lang="en-US"/>
        </a:p>
      </dgm:t>
    </dgm:pt>
    <dgm:pt modelId="{B3573DBA-0A98-4E70-9ABD-2DB63D616529}" type="sibTrans" cxnId="{96206768-B1B0-4105-A879-1C1A903E4A4B}">
      <dgm:prSet/>
      <dgm:spPr/>
      <dgm:t>
        <a:bodyPr/>
        <a:lstStyle/>
        <a:p>
          <a:endParaRPr lang="en-US"/>
        </a:p>
      </dgm:t>
    </dgm:pt>
    <dgm:pt modelId="{A7FB50FB-0F8B-4362-AA7E-346F42F7EDB3}">
      <dgm:prSet custT="1"/>
      <dgm:spPr/>
      <dgm:t>
        <a:bodyPr/>
        <a:lstStyle/>
        <a:p>
          <a:pPr>
            <a:lnSpc>
              <a:spcPct val="100000"/>
            </a:lnSpc>
            <a:defRPr cap="all"/>
          </a:pPr>
          <a:r>
            <a:rPr lang="en-US" sz="1200" b="1" dirty="0"/>
            <a:t>Data could represent chemicals, contaminants, heavy metals, or any feature which can be represented numerically.</a:t>
          </a:r>
        </a:p>
      </dgm:t>
    </dgm:pt>
    <dgm:pt modelId="{8B845BD7-6792-4E76-8954-C02E27EDE3F3}" type="parTrans" cxnId="{3BBCB74D-3553-459A-8E3C-B1792130E18F}">
      <dgm:prSet/>
      <dgm:spPr/>
      <dgm:t>
        <a:bodyPr/>
        <a:lstStyle/>
        <a:p>
          <a:endParaRPr lang="en-US"/>
        </a:p>
      </dgm:t>
    </dgm:pt>
    <dgm:pt modelId="{AE9AEFA0-F65A-4B91-AD65-ACB3A0660FAF}" type="sibTrans" cxnId="{3BBCB74D-3553-459A-8E3C-B1792130E18F}">
      <dgm:prSet/>
      <dgm:spPr/>
      <dgm:t>
        <a:bodyPr/>
        <a:lstStyle/>
        <a:p>
          <a:endParaRPr lang="en-US"/>
        </a:p>
      </dgm:t>
    </dgm:pt>
    <dgm:pt modelId="{3132D7F4-2430-4FCE-9734-F31D52786E50}">
      <dgm:prSet/>
      <dgm:spPr/>
      <dgm:t>
        <a:bodyPr/>
        <a:lstStyle/>
        <a:p>
          <a:pPr>
            <a:lnSpc>
              <a:spcPct val="100000"/>
            </a:lnSpc>
            <a:defRPr cap="all"/>
          </a:pPr>
          <a:r>
            <a:rPr lang="en-US" b="1" dirty="0"/>
            <a:t>The data could be air quality sensor readings, water quality measurements, or other sensor data.</a:t>
          </a:r>
        </a:p>
      </dgm:t>
    </dgm:pt>
    <dgm:pt modelId="{F36C6821-CD62-4013-A281-F32C7512E67E}" type="parTrans" cxnId="{47256E66-10E2-4CBC-8628-2346D9F6C665}">
      <dgm:prSet/>
      <dgm:spPr/>
      <dgm:t>
        <a:bodyPr/>
        <a:lstStyle/>
        <a:p>
          <a:endParaRPr lang="en-US"/>
        </a:p>
      </dgm:t>
    </dgm:pt>
    <dgm:pt modelId="{E7751A24-E95A-4677-AD10-C8EC08EA8C5A}" type="sibTrans" cxnId="{47256E66-10E2-4CBC-8628-2346D9F6C665}">
      <dgm:prSet/>
      <dgm:spPr/>
      <dgm:t>
        <a:bodyPr/>
        <a:lstStyle/>
        <a:p>
          <a:endParaRPr lang="en-US"/>
        </a:p>
      </dgm:t>
    </dgm:pt>
    <dgm:pt modelId="{B9ED9797-0F88-418F-95C9-72D9FCEC0AB9}">
      <dgm:prSet/>
      <dgm:spPr/>
      <dgm:t>
        <a:bodyPr/>
        <a:lstStyle/>
        <a:p>
          <a:pPr>
            <a:lnSpc>
              <a:spcPct val="100000"/>
            </a:lnSpc>
            <a:defRPr cap="all"/>
          </a:pPr>
          <a:r>
            <a:rPr lang="en-US" b="1" dirty="0"/>
            <a:t>Environmental source apportionment data is generally time-series data, though is considered temporally independent.</a:t>
          </a:r>
        </a:p>
      </dgm:t>
    </dgm:pt>
    <dgm:pt modelId="{806A0105-BF32-4CF3-9565-DA2BC8EA41F6}" type="parTrans" cxnId="{4DE2836A-2367-430A-92D4-156C80D8EF1B}">
      <dgm:prSet/>
      <dgm:spPr/>
      <dgm:t>
        <a:bodyPr/>
        <a:lstStyle/>
        <a:p>
          <a:endParaRPr lang="en-US"/>
        </a:p>
      </dgm:t>
    </dgm:pt>
    <dgm:pt modelId="{A52BCD45-2085-4407-A7D5-98C122779C1E}" type="sibTrans" cxnId="{4DE2836A-2367-430A-92D4-156C80D8EF1B}">
      <dgm:prSet/>
      <dgm:spPr/>
      <dgm:t>
        <a:bodyPr/>
        <a:lstStyle/>
        <a:p>
          <a:endParaRPr lang="en-US"/>
        </a:p>
      </dgm:t>
    </dgm:pt>
    <dgm:pt modelId="{A79ED5BB-B0FC-4821-B5D1-25349D2D6396}">
      <dgm:prSet/>
      <dgm:spPr/>
      <dgm:t>
        <a:bodyPr/>
        <a:lstStyle/>
        <a:p>
          <a:pPr>
            <a:lnSpc>
              <a:spcPct val="100000"/>
            </a:lnSpc>
            <a:defRPr cap="all"/>
          </a:pPr>
          <a:r>
            <a:rPr lang="en-US" b="1" dirty="0"/>
            <a:t>The context of the data directly determines how you interpret source apportionment Output.</a:t>
          </a:r>
        </a:p>
      </dgm:t>
    </dgm:pt>
    <dgm:pt modelId="{5E047781-9B1E-46A9-839D-32FAE01335D6}" type="parTrans" cxnId="{6D2E5AE1-4299-4847-B51D-937EFD808ECC}">
      <dgm:prSet/>
      <dgm:spPr/>
      <dgm:t>
        <a:bodyPr/>
        <a:lstStyle/>
        <a:p>
          <a:endParaRPr lang="en-US"/>
        </a:p>
      </dgm:t>
    </dgm:pt>
    <dgm:pt modelId="{7E083C71-66A4-42DC-A67C-7201025412AA}" type="sibTrans" cxnId="{6D2E5AE1-4299-4847-B51D-937EFD808ECC}">
      <dgm:prSet/>
      <dgm:spPr/>
      <dgm:t>
        <a:bodyPr/>
        <a:lstStyle/>
        <a:p>
          <a:endParaRPr lang="en-US"/>
        </a:p>
      </dgm:t>
    </dgm:pt>
    <dgm:pt modelId="{3DAD0078-686B-408B-8B22-EC8703CD73D9}">
      <dgm:prSet/>
      <dgm:spPr/>
      <dgm:t>
        <a:bodyPr/>
        <a:lstStyle/>
        <a:p>
          <a:pPr>
            <a:lnSpc>
              <a:spcPct val="100000"/>
            </a:lnSpc>
            <a:defRPr cap="all"/>
          </a:pPr>
          <a:r>
            <a:rPr lang="en-US" b="1" dirty="0"/>
            <a:t>Environmental time-series data can also have corresponding uncertainty values, due to sensor uncertainty/limitations.</a:t>
          </a:r>
        </a:p>
      </dgm:t>
    </dgm:pt>
    <dgm:pt modelId="{0CE27F51-EEF8-456E-B13D-7AA45C4CBB8A}" type="parTrans" cxnId="{BE90FBEF-ED3B-4ADA-A04B-5141EEBA39D2}">
      <dgm:prSet/>
      <dgm:spPr/>
      <dgm:t>
        <a:bodyPr/>
        <a:lstStyle/>
        <a:p>
          <a:endParaRPr lang="en-US"/>
        </a:p>
      </dgm:t>
    </dgm:pt>
    <dgm:pt modelId="{025A9B77-5386-4341-BD7E-C884A8954152}" type="sibTrans" cxnId="{BE90FBEF-ED3B-4ADA-A04B-5141EEBA39D2}">
      <dgm:prSet/>
      <dgm:spPr/>
      <dgm:t>
        <a:bodyPr/>
        <a:lstStyle/>
        <a:p>
          <a:endParaRPr lang="en-US"/>
        </a:p>
      </dgm:t>
    </dgm:pt>
    <dgm:pt modelId="{FBFB9ACF-96FA-40E7-A669-3713F395B33D}" type="pres">
      <dgm:prSet presAssocID="{236D1F31-A851-4CD0-BC0C-3291A0EC1279}" presName="root" presStyleCnt="0">
        <dgm:presLayoutVars>
          <dgm:dir/>
          <dgm:resizeHandles val="exact"/>
        </dgm:presLayoutVars>
      </dgm:prSet>
      <dgm:spPr/>
    </dgm:pt>
    <dgm:pt modelId="{1A7B1F89-77FA-4475-9D77-47A6372AEFC4}" type="pres">
      <dgm:prSet presAssocID="{00DF5337-6264-4B8B-B578-7E2D34F114FD}" presName="compNode" presStyleCnt="0"/>
      <dgm:spPr/>
    </dgm:pt>
    <dgm:pt modelId="{BBE86526-5E19-4CA1-859B-1A934F6F1648}" type="pres">
      <dgm:prSet presAssocID="{00DF5337-6264-4B8B-B578-7E2D34F114FD}" presName="iconBgRect" presStyleLbl="bgShp" presStyleIdx="0" presStyleCnt="6"/>
      <dgm:spPr/>
    </dgm:pt>
    <dgm:pt modelId="{BBB6012B-044E-486E-A53C-8AEA1D831E29}" type="pres">
      <dgm:prSet presAssocID="{00DF5337-6264-4B8B-B578-7E2D34F114F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thematics"/>
        </a:ext>
      </dgm:extLst>
    </dgm:pt>
    <dgm:pt modelId="{0A4E6AC5-2857-4989-BC9F-E7AD18262E49}" type="pres">
      <dgm:prSet presAssocID="{00DF5337-6264-4B8B-B578-7E2D34F114FD}" presName="spaceRect" presStyleCnt="0"/>
      <dgm:spPr/>
    </dgm:pt>
    <dgm:pt modelId="{C21D49F7-FE8E-4295-9F62-A782D419DDBE}" type="pres">
      <dgm:prSet presAssocID="{00DF5337-6264-4B8B-B578-7E2D34F114FD}" presName="textRect" presStyleLbl="revTx" presStyleIdx="0" presStyleCnt="6" custScaleX="131336">
        <dgm:presLayoutVars>
          <dgm:chMax val="1"/>
          <dgm:chPref val="1"/>
        </dgm:presLayoutVars>
      </dgm:prSet>
      <dgm:spPr/>
    </dgm:pt>
    <dgm:pt modelId="{C8ED5898-F98A-475F-B659-D62587B62A79}" type="pres">
      <dgm:prSet presAssocID="{B3573DBA-0A98-4E70-9ABD-2DB63D616529}" presName="sibTrans" presStyleCnt="0"/>
      <dgm:spPr/>
    </dgm:pt>
    <dgm:pt modelId="{E9D10B06-A027-41DD-84B0-CE450BD593C6}" type="pres">
      <dgm:prSet presAssocID="{A7FB50FB-0F8B-4362-AA7E-346F42F7EDB3}" presName="compNode" presStyleCnt="0"/>
      <dgm:spPr/>
    </dgm:pt>
    <dgm:pt modelId="{FA043445-A6B2-4952-A300-7A60AC6066E8}" type="pres">
      <dgm:prSet presAssocID="{A7FB50FB-0F8B-4362-AA7E-346F42F7EDB3}" presName="iconBgRect" presStyleLbl="bgShp" presStyleIdx="1" presStyleCnt="6"/>
      <dgm:spPr/>
    </dgm:pt>
    <dgm:pt modelId="{470ED6DC-ABBF-42FA-B5FC-57B1DFCC75DA}" type="pres">
      <dgm:prSet presAssocID="{A7FB50FB-0F8B-4362-AA7E-346F42F7EDB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ientist"/>
        </a:ext>
      </dgm:extLst>
    </dgm:pt>
    <dgm:pt modelId="{10A09ADB-4306-4E5E-8B38-0E8DB5915D2F}" type="pres">
      <dgm:prSet presAssocID="{A7FB50FB-0F8B-4362-AA7E-346F42F7EDB3}" presName="spaceRect" presStyleCnt="0"/>
      <dgm:spPr/>
    </dgm:pt>
    <dgm:pt modelId="{730A7F5A-B99D-42ED-A3C4-691D6450728F}" type="pres">
      <dgm:prSet presAssocID="{A7FB50FB-0F8B-4362-AA7E-346F42F7EDB3}" presName="textRect" presStyleLbl="revTx" presStyleIdx="1" presStyleCnt="6" custScaleX="147672">
        <dgm:presLayoutVars>
          <dgm:chMax val="1"/>
          <dgm:chPref val="1"/>
        </dgm:presLayoutVars>
      </dgm:prSet>
      <dgm:spPr/>
    </dgm:pt>
    <dgm:pt modelId="{A7E15870-412F-4B4A-A1D5-EEF8CB87A7B4}" type="pres">
      <dgm:prSet presAssocID="{AE9AEFA0-F65A-4B91-AD65-ACB3A0660FAF}" presName="sibTrans" presStyleCnt="0"/>
      <dgm:spPr/>
    </dgm:pt>
    <dgm:pt modelId="{2EAD1C57-01A9-4EAA-A865-367AB562390B}" type="pres">
      <dgm:prSet presAssocID="{3132D7F4-2430-4FCE-9734-F31D52786E50}" presName="compNode" presStyleCnt="0"/>
      <dgm:spPr/>
    </dgm:pt>
    <dgm:pt modelId="{C34D67EC-5FC8-4350-A782-D96D6CA99E18}" type="pres">
      <dgm:prSet presAssocID="{3132D7F4-2430-4FCE-9734-F31D52786E50}" presName="iconBgRect" presStyleLbl="bgShp" presStyleIdx="2" presStyleCnt="6"/>
      <dgm:spPr/>
    </dgm:pt>
    <dgm:pt modelId="{CCF08E2D-32DA-4183-A4EB-D63B1BA31D15}" type="pres">
      <dgm:prSet presAssocID="{3132D7F4-2430-4FCE-9734-F31D52786E5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hermometer"/>
        </a:ext>
      </dgm:extLst>
    </dgm:pt>
    <dgm:pt modelId="{37EF69C9-D5A7-480B-BB4E-CE47922A3F7A}" type="pres">
      <dgm:prSet presAssocID="{3132D7F4-2430-4FCE-9734-F31D52786E50}" presName="spaceRect" presStyleCnt="0"/>
      <dgm:spPr/>
    </dgm:pt>
    <dgm:pt modelId="{D4A86277-86E2-4E30-A491-BFABCCAC1B89}" type="pres">
      <dgm:prSet presAssocID="{3132D7F4-2430-4FCE-9734-F31D52786E50}" presName="textRect" presStyleLbl="revTx" presStyleIdx="2" presStyleCnt="6">
        <dgm:presLayoutVars>
          <dgm:chMax val="1"/>
          <dgm:chPref val="1"/>
        </dgm:presLayoutVars>
      </dgm:prSet>
      <dgm:spPr/>
    </dgm:pt>
    <dgm:pt modelId="{69D276A0-3663-4111-A427-0C02F49BB77F}" type="pres">
      <dgm:prSet presAssocID="{E7751A24-E95A-4677-AD10-C8EC08EA8C5A}" presName="sibTrans" presStyleCnt="0"/>
      <dgm:spPr/>
    </dgm:pt>
    <dgm:pt modelId="{AE84659F-2AD4-45E0-9839-E8DFA93D63DD}" type="pres">
      <dgm:prSet presAssocID="{B9ED9797-0F88-418F-95C9-72D9FCEC0AB9}" presName="compNode" presStyleCnt="0"/>
      <dgm:spPr/>
    </dgm:pt>
    <dgm:pt modelId="{905B20F2-CC83-4828-9481-88B1F0F24F15}" type="pres">
      <dgm:prSet presAssocID="{B9ED9797-0F88-418F-95C9-72D9FCEC0AB9}" presName="iconBgRect" presStyleLbl="bgShp" presStyleIdx="3" presStyleCnt="6"/>
      <dgm:spPr/>
    </dgm:pt>
    <dgm:pt modelId="{FF8D80CF-32E0-435E-A44E-8F63DBF4F551}" type="pres">
      <dgm:prSet presAssocID="{B9ED9797-0F88-418F-95C9-72D9FCEC0AB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4D6D6A5A-B740-48DC-B61D-3991411E3805}" type="pres">
      <dgm:prSet presAssocID="{B9ED9797-0F88-418F-95C9-72D9FCEC0AB9}" presName="spaceRect" presStyleCnt="0"/>
      <dgm:spPr/>
    </dgm:pt>
    <dgm:pt modelId="{50AC2EC7-B9CF-407D-8A0B-892D2D91155E}" type="pres">
      <dgm:prSet presAssocID="{B9ED9797-0F88-418F-95C9-72D9FCEC0AB9}" presName="textRect" presStyleLbl="revTx" presStyleIdx="3" presStyleCnt="6">
        <dgm:presLayoutVars>
          <dgm:chMax val="1"/>
          <dgm:chPref val="1"/>
        </dgm:presLayoutVars>
      </dgm:prSet>
      <dgm:spPr/>
    </dgm:pt>
    <dgm:pt modelId="{BB50C278-1046-476A-853E-27B4EFF962D3}" type="pres">
      <dgm:prSet presAssocID="{A52BCD45-2085-4407-A7D5-98C122779C1E}" presName="sibTrans" presStyleCnt="0"/>
      <dgm:spPr/>
    </dgm:pt>
    <dgm:pt modelId="{478D7A01-1D13-49B7-930E-23E4CCC6857F}" type="pres">
      <dgm:prSet presAssocID="{A79ED5BB-B0FC-4821-B5D1-25349D2D6396}" presName="compNode" presStyleCnt="0"/>
      <dgm:spPr/>
    </dgm:pt>
    <dgm:pt modelId="{0FE3DDA3-5D82-407D-8599-CED9871E34BB}" type="pres">
      <dgm:prSet presAssocID="{A79ED5BB-B0FC-4821-B5D1-25349D2D6396}" presName="iconBgRect" presStyleLbl="bgShp" presStyleIdx="4" presStyleCnt="6"/>
      <dgm:spPr/>
    </dgm:pt>
    <dgm:pt modelId="{42769233-A1AE-4256-AECC-50396C23C2D9}" type="pres">
      <dgm:prSet presAssocID="{A79ED5BB-B0FC-4821-B5D1-25349D2D639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tatistics"/>
        </a:ext>
      </dgm:extLst>
    </dgm:pt>
    <dgm:pt modelId="{9465354C-7D18-4692-B43C-D56D7D4EF702}" type="pres">
      <dgm:prSet presAssocID="{A79ED5BB-B0FC-4821-B5D1-25349D2D6396}" presName="spaceRect" presStyleCnt="0"/>
      <dgm:spPr/>
    </dgm:pt>
    <dgm:pt modelId="{D52AD4B0-4B0C-46C6-8CAA-1B00A1541CBF}" type="pres">
      <dgm:prSet presAssocID="{A79ED5BB-B0FC-4821-B5D1-25349D2D6396}" presName="textRect" presStyleLbl="revTx" presStyleIdx="4" presStyleCnt="6">
        <dgm:presLayoutVars>
          <dgm:chMax val="1"/>
          <dgm:chPref val="1"/>
        </dgm:presLayoutVars>
      </dgm:prSet>
      <dgm:spPr/>
    </dgm:pt>
    <dgm:pt modelId="{D21B85DB-AD6C-49E5-91C8-CB70F55D7120}" type="pres">
      <dgm:prSet presAssocID="{7E083C71-66A4-42DC-A67C-7201025412AA}" presName="sibTrans" presStyleCnt="0"/>
      <dgm:spPr/>
    </dgm:pt>
    <dgm:pt modelId="{EA770A3A-E3D3-4B64-AC75-AFD0BFDF2E11}" type="pres">
      <dgm:prSet presAssocID="{3DAD0078-686B-408B-8B22-EC8703CD73D9}" presName="compNode" presStyleCnt="0"/>
      <dgm:spPr/>
    </dgm:pt>
    <dgm:pt modelId="{41644E51-E6B7-4BB2-A47D-4C39491369EA}" type="pres">
      <dgm:prSet presAssocID="{3DAD0078-686B-408B-8B22-EC8703CD73D9}" presName="iconBgRect" presStyleLbl="bgShp" presStyleIdx="5" presStyleCnt="6"/>
      <dgm:spPr/>
    </dgm:pt>
    <dgm:pt modelId="{7E3DAE30-B5A0-42FD-AA6C-665E593D657D}" type="pres">
      <dgm:prSet presAssocID="{3DAD0078-686B-408B-8B22-EC8703CD73D9}"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Normal Distribution with solid fill"/>
        </a:ext>
      </dgm:extLst>
    </dgm:pt>
    <dgm:pt modelId="{1CAE745E-C745-4AA2-A915-3B4D019761A1}" type="pres">
      <dgm:prSet presAssocID="{3DAD0078-686B-408B-8B22-EC8703CD73D9}" presName="spaceRect" presStyleCnt="0"/>
      <dgm:spPr/>
    </dgm:pt>
    <dgm:pt modelId="{3A784827-2D10-49EE-A2AF-51BC3AC94E7A}" type="pres">
      <dgm:prSet presAssocID="{3DAD0078-686B-408B-8B22-EC8703CD73D9}" presName="textRect" presStyleLbl="revTx" presStyleIdx="5" presStyleCnt="6" custScaleX="138633">
        <dgm:presLayoutVars>
          <dgm:chMax val="1"/>
          <dgm:chPref val="1"/>
        </dgm:presLayoutVars>
      </dgm:prSet>
      <dgm:spPr/>
    </dgm:pt>
  </dgm:ptLst>
  <dgm:cxnLst>
    <dgm:cxn modelId="{3EF7D906-6A69-429C-B023-A12A5D90314F}" type="presOf" srcId="{A79ED5BB-B0FC-4821-B5D1-25349D2D6396}" destId="{D52AD4B0-4B0C-46C6-8CAA-1B00A1541CBF}" srcOrd="0" destOrd="0" presId="urn:microsoft.com/office/officeart/2018/5/layout/IconCircleLabelList"/>
    <dgm:cxn modelId="{47256E66-10E2-4CBC-8628-2346D9F6C665}" srcId="{236D1F31-A851-4CD0-BC0C-3291A0EC1279}" destId="{3132D7F4-2430-4FCE-9734-F31D52786E50}" srcOrd="2" destOrd="0" parTransId="{F36C6821-CD62-4013-A281-F32C7512E67E}" sibTransId="{E7751A24-E95A-4677-AD10-C8EC08EA8C5A}"/>
    <dgm:cxn modelId="{B6D3F147-8ADF-480A-A4C8-7A3171201187}" type="presOf" srcId="{00DF5337-6264-4B8B-B578-7E2D34F114FD}" destId="{C21D49F7-FE8E-4295-9F62-A782D419DDBE}" srcOrd="0" destOrd="0" presId="urn:microsoft.com/office/officeart/2018/5/layout/IconCircleLabelList"/>
    <dgm:cxn modelId="{96206768-B1B0-4105-A879-1C1A903E4A4B}" srcId="{236D1F31-A851-4CD0-BC0C-3291A0EC1279}" destId="{00DF5337-6264-4B8B-B578-7E2D34F114FD}" srcOrd="0" destOrd="0" parTransId="{9DEF9327-790F-4B89-96CD-4917B9F524E2}" sibTransId="{B3573DBA-0A98-4E70-9ABD-2DB63D616529}"/>
    <dgm:cxn modelId="{4DE2836A-2367-430A-92D4-156C80D8EF1B}" srcId="{236D1F31-A851-4CD0-BC0C-3291A0EC1279}" destId="{B9ED9797-0F88-418F-95C9-72D9FCEC0AB9}" srcOrd="3" destOrd="0" parTransId="{806A0105-BF32-4CF3-9565-DA2BC8EA41F6}" sibTransId="{A52BCD45-2085-4407-A7D5-98C122779C1E}"/>
    <dgm:cxn modelId="{3BBCB74D-3553-459A-8E3C-B1792130E18F}" srcId="{236D1F31-A851-4CD0-BC0C-3291A0EC1279}" destId="{A7FB50FB-0F8B-4362-AA7E-346F42F7EDB3}" srcOrd="1" destOrd="0" parTransId="{8B845BD7-6792-4E76-8954-C02E27EDE3F3}" sibTransId="{AE9AEFA0-F65A-4B91-AD65-ACB3A0660FAF}"/>
    <dgm:cxn modelId="{A37D877E-1CFB-4C86-A955-56EC14F0FF8A}" type="presOf" srcId="{3DAD0078-686B-408B-8B22-EC8703CD73D9}" destId="{3A784827-2D10-49EE-A2AF-51BC3AC94E7A}" srcOrd="0" destOrd="0" presId="urn:microsoft.com/office/officeart/2018/5/layout/IconCircleLabelList"/>
    <dgm:cxn modelId="{88A0F2CB-81B8-4F17-817C-6D96275B69FE}" type="presOf" srcId="{A7FB50FB-0F8B-4362-AA7E-346F42F7EDB3}" destId="{730A7F5A-B99D-42ED-A3C4-691D6450728F}" srcOrd="0" destOrd="0" presId="urn:microsoft.com/office/officeart/2018/5/layout/IconCircleLabelList"/>
    <dgm:cxn modelId="{A0CEEFD6-14BA-401B-9D70-EA237831F501}" type="presOf" srcId="{B9ED9797-0F88-418F-95C9-72D9FCEC0AB9}" destId="{50AC2EC7-B9CF-407D-8A0B-892D2D91155E}" srcOrd="0" destOrd="0" presId="urn:microsoft.com/office/officeart/2018/5/layout/IconCircleLabelList"/>
    <dgm:cxn modelId="{6D2E5AE1-4299-4847-B51D-937EFD808ECC}" srcId="{236D1F31-A851-4CD0-BC0C-3291A0EC1279}" destId="{A79ED5BB-B0FC-4821-B5D1-25349D2D6396}" srcOrd="4" destOrd="0" parTransId="{5E047781-9B1E-46A9-839D-32FAE01335D6}" sibTransId="{7E083C71-66A4-42DC-A67C-7201025412AA}"/>
    <dgm:cxn modelId="{6B776DEF-375C-43C9-ADC1-1DBD82CB5173}" type="presOf" srcId="{3132D7F4-2430-4FCE-9734-F31D52786E50}" destId="{D4A86277-86E2-4E30-A491-BFABCCAC1B89}" srcOrd="0" destOrd="0" presId="urn:microsoft.com/office/officeart/2018/5/layout/IconCircleLabelList"/>
    <dgm:cxn modelId="{BE90FBEF-ED3B-4ADA-A04B-5141EEBA39D2}" srcId="{236D1F31-A851-4CD0-BC0C-3291A0EC1279}" destId="{3DAD0078-686B-408B-8B22-EC8703CD73D9}" srcOrd="5" destOrd="0" parTransId="{0CE27F51-EEF8-456E-B13D-7AA45C4CBB8A}" sibTransId="{025A9B77-5386-4341-BD7E-C884A8954152}"/>
    <dgm:cxn modelId="{8B6783FC-5CD8-49F1-A2A4-40C006A0BD4B}" type="presOf" srcId="{236D1F31-A851-4CD0-BC0C-3291A0EC1279}" destId="{FBFB9ACF-96FA-40E7-A669-3713F395B33D}" srcOrd="0" destOrd="0" presId="urn:microsoft.com/office/officeart/2018/5/layout/IconCircleLabelList"/>
    <dgm:cxn modelId="{17A51904-E376-4F12-808B-B97438CC61FD}" type="presParOf" srcId="{FBFB9ACF-96FA-40E7-A669-3713F395B33D}" destId="{1A7B1F89-77FA-4475-9D77-47A6372AEFC4}" srcOrd="0" destOrd="0" presId="urn:microsoft.com/office/officeart/2018/5/layout/IconCircleLabelList"/>
    <dgm:cxn modelId="{38829C95-F312-4051-A9B9-B44E9F4AFF75}" type="presParOf" srcId="{1A7B1F89-77FA-4475-9D77-47A6372AEFC4}" destId="{BBE86526-5E19-4CA1-859B-1A934F6F1648}" srcOrd="0" destOrd="0" presId="urn:microsoft.com/office/officeart/2018/5/layout/IconCircleLabelList"/>
    <dgm:cxn modelId="{D5BEDA3D-9228-4F1E-952C-3811FE1FF57F}" type="presParOf" srcId="{1A7B1F89-77FA-4475-9D77-47A6372AEFC4}" destId="{BBB6012B-044E-486E-A53C-8AEA1D831E29}" srcOrd="1" destOrd="0" presId="urn:microsoft.com/office/officeart/2018/5/layout/IconCircleLabelList"/>
    <dgm:cxn modelId="{0DD041C2-AABC-4ACB-A2A2-75A1D2424066}" type="presParOf" srcId="{1A7B1F89-77FA-4475-9D77-47A6372AEFC4}" destId="{0A4E6AC5-2857-4989-BC9F-E7AD18262E49}" srcOrd="2" destOrd="0" presId="urn:microsoft.com/office/officeart/2018/5/layout/IconCircleLabelList"/>
    <dgm:cxn modelId="{E6D523FD-FB43-4651-8C81-661B4FE30B24}" type="presParOf" srcId="{1A7B1F89-77FA-4475-9D77-47A6372AEFC4}" destId="{C21D49F7-FE8E-4295-9F62-A782D419DDBE}" srcOrd="3" destOrd="0" presId="urn:microsoft.com/office/officeart/2018/5/layout/IconCircleLabelList"/>
    <dgm:cxn modelId="{8B8804CA-2A65-4EF9-9B75-4B5998697FFC}" type="presParOf" srcId="{FBFB9ACF-96FA-40E7-A669-3713F395B33D}" destId="{C8ED5898-F98A-475F-B659-D62587B62A79}" srcOrd="1" destOrd="0" presId="urn:microsoft.com/office/officeart/2018/5/layout/IconCircleLabelList"/>
    <dgm:cxn modelId="{3CA6C0BC-4C9C-4E7A-85D9-21616845FBE7}" type="presParOf" srcId="{FBFB9ACF-96FA-40E7-A669-3713F395B33D}" destId="{E9D10B06-A027-41DD-84B0-CE450BD593C6}" srcOrd="2" destOrd="0" presId="urn:microsoft.com/office/officeart/2018/5/layout/IconCircleLabelList"/>
    <dgm:cxn modelId="{39DA0782-8D2C-4ABB-9CEF-01764998CC97}" type="presParOf" srcId="{E9D10B06-A027-41DD-84B0-CE450BD593C6}" destId="{FA043445-A6B2-4952-A300-7A60AC6066E8}" srcOrd="0" destOrd="0" presId="urn:microsoft.com/office/officeart/2018/5/layout/IconCircleLabelList"/>
    <dgm:cxn modelId="{2B1272D1-EE3A-45F8-B1E7-ECEAD1D6338C}" type="presParOf" srcId="{E9D10B06-A027-41DD-84B0-CE450BD593C6}" destId="{470ED6DC-ABBF-42FA-B5FC-57B1DFCC75DA}" srcOrd="1" destOrd="0" presId="urn:microsoft.com/office/officeart/2018/5/layout/IconCircleLabelList"/>
    <dgm:cxn modelId="{14E0C2B9-9AE4-444D-871D-FEF243A46AEA}" type="presParOf" srcId="{E9D10B06-A027-41DD-84B0-CE450BD593C6}" destId="{10A09ADB-4306-4E5E-8B38-0E8DB5915D2F}" srcOrd="2" destOrd="0" presId="urn:microsoft.com/office/officeart/2018/5/layout/IconCircleLabelList"/>
    <dgm:cxn modelId="{DB5D0315-88A1-40BD-8ADF-83C6A8325206}" type="presParOf" srcId="{E9D10B06-A027-41DD-84B0-CE450BD593C6}" destId="{730A7F5A-B99D-42ED-A3C4-691D6450728F}" srcOrd="3" destOrd="0" presId="urn:microsoft.com/office/officeart/2018/5/layout/IconCircleLabelList"/>
    <dgm:cxn modelId="{21B0E21A-4B6D-48CD-A3E4-7535E1694A17}" type="presParOf" srcId="{FBFB9ACF-96FA-40E7-A669-3713F395B33D}" destId="{A7E15870-412F-4B4A-A1D5-EEF8CB87A7B4}" srcOrd="3" destOrd="0" presId="urn:microsoft.com/office/officeart/2018/5/layout/IconCircleLabelList"/>
    <dgm:cxn modelId="{E2A02DB3-875D-40B3-822E-A3B9F268E67B}" type="presParOf" srcId="{FBFB9ACF-96FA-40E7-A669-3713F395B33D}" destId="{2EAD1C57-01A9-4EAA-A865-367AB562390B}" srcOrd="4" destOrd="0" presId="urn:microsoft.com/office/officeart/2018/5/layout/IconCircleLabelList"/>
    <dgm:cxn modelId="{691CEB24-CCBC-4947-A114-B39E9EBA5BAD}" type="presParOf" srcId="{2EAD1C57-01A9-4EAA-A865-367AB562390B}" destId="{C34D67EC-5FC8-4350-A782-D96D6CA99E18}" srcOrd="0" destOrd="0" presId="urn:microsoft.com/office/officeart/2018/5/layout/IconCircleLabelList"/>
    <dgm:cxn modelId="{231759CC-725A-4C24-865F-92E79ADE293A}" type="presParOf" srcId="{2EAD1C57-01A9-4EAA-A865-367AB562390B}" destId="{CCF08E2D-32DA-4183-A4EB-D63B1BA31D15}" srcOrd="1" destOrd="0" presId="urn:microsoft.com/office/officeart/2018/5/layout/IconCircleLabelList"/>
    <dgm:cxn modelId="{BADA3868-97CD-4509-AC73-B36BB001BF3F}" type="presParOf" srcId="{2EAD1C57-01A9-4EAA-A865-367AB562390B}" destId="{37EF69C9-D5A7-480B-BB4E-CE47922A3F7A}" srcOrd="2" destOrd="0" presId="urn:microsoft.com/office/officeart/2018/5/layout/IconCircleLabelList"/>
    <dgm:cxn modelId="{4C743076-12EA-4170-A1F0-1638628F4E9B}" type="presParOf" srcId="{2EAD1C57-01A9-4EAA-A865-367AB562390B}" destId="{D4A86277-86E2-4E30-A491-BFABCCAC1B89}" srcOrd="3" destOrd="0" presId="urn:microsoft.com/office/officeart/2018/5/layout/IconCircleLabelList"/>
    <dgm:cxn modelId="{EA25F3DE-C966-473A-84FD-64EB3B4D19DE}" type="presParOf" srcId="{FBFB9ACF-96FA-40E7-A669-3713F395B33D}" destId="{69D276A0-3663-4111-A427-0C02F49BB77F}" srcOrd="5" destOrd="0" presId="urn:microsoft.com/office/officeart/2018/5/layout/IconCircleLabelList"/>
    <dgm:cxn modelId="{224F4EFE-C33F-4C0F-9892-0152E95CFC3C}" type="presParOf" srcId="{FBFB9ACF-96FA-40E7-A669-3713F395B33D}" destId="{AE84659F-2AD4-45E0-9839-E8DFA93D63DD}" srcOrd="6" destOrd="0" presId="urn:microsoft.com/office/officeart/2018/5/layout/IconCircleLabelList"/>
    <dgm:cxn modelId="{09900DBE-1309-4CC8-84DD-C3743143D95E}" type="presParOf" srcId="{AE84659F-2AD4-45E0-9839-E8DFA93D63DD}" destId="{905B20F2-CC83-4828-9481-88B1F0F24F15}" srcOrd="0" destOrd="0" presId="urn:microsoft.com/office/officeart/2018/5/layout/IconCircleLabelList"/>
    <dgm:cxn modelId="{34DC150A-4844-4C21-A527-1CDA10C6BAC5}" type="presParOf" srcId="{AE84659F-2AD4-45E0-9839-E8DFA93D63DD}" destId="{FF8D80CF-32E0-435E-A44E-8F63DBF4F551}" srcOrd="1" destOrd="0" presId="urn:microsoft.com/office/officeart/2018/5/layout/IconCircleLabelList"/>
    <dgm:cxn modelId="{27225CAB-F104-4857-B012-90767AFF8A65}" type="presParOf" srcId="{AE84659F-2AD4-45E0-9839-E8DFA93D63DD}" destId="{4D6D6A5A-B740-48DC-B61D-3991411E3805}" srcOrd="2" destOrd="0" presId="urn:microsoft.com/office/officeart/2018/5/layout/IconCircleLabelList"/>
    <dgm:cxn modelId="{B3A5E6DE-E5BB-45B6-AF22-5EC50B97B01E}" type="presParOf" srcId="{AE84659F-2AD4-45E0-9839-E8DFA93D63DD}" destId="{50AC2EC7-B9CF-407D-8A0B-892D2D91155E}" srcOrd="3" destOrd="0" presId="urn:microsoft.com/office/officeart/2018/5/layout/IconCircleLabelList"/>
    <dgm:cxn modelId="{0D931AAE-3C3A-47F9-9890-723F959A3817}" type="presParOf" srcId="{FBFB9ACF-96FA-40E7-A669-3713F395B33D}" destId="{BB50C278-1046-476A-853E-27B4EFF962D3}" srcOrd="7" destOrd="0" presId="urn:microsoft.com/office/officeart/2018/5/layout/IconCircleLabelList"/>
    <dgm:cxn modelId="{F601AB1F-09E4-49F3-9374-6C079A7C8CC0}" type="presParOf" srcId="{FBFB9ACF-96FA-40E7-A669-3713F395B33D}" destId="{478D7A01-1D13-49B7-930E-23E4CCC6857F}" srcOrd="8" destOrd="0" presId="urn:microsoft.com/office/officeart/2018/5/layout/IconCircleLabelList"/>
    <dgm:cxn modelId="{15379754-8B5B-4957-A87D-A58EF65DC73C}" type="presParOf" srcId="{478D7A01-1D13-49B7-930E-23E4CCC6857F}" destId="{0FE3DDA3-5D82-407D-8599-CED9871E34BB}" srcOrd="0" destOrd="0" presId="urn:microsoft.com/office/officeart/2018/5/layout/IconCircleLabelList"/>
    <dgm:cxn modelId="{27DCE3A2-8F91-4869-A798-95E4C66939AA}" type="presParOf" srcId="{478D7A01-1D13-49B7-930E-23E4CCC6857F}" destId="{42769233-A1AE-4256-AECC-50396C23C2D9}" srcOrd="1" destOrd="0" presId="urn:microsoft.com/office/officeart/2018/5/layout/IconCircleLabelList"/>
    <dgm:cxn modelId="{02460436-935A-4B86-A9B8-61C6C7DD8364}" type="presParOf" srcId="{478D7A01-1D13-49B7-930E-23E4CCC6857F}" destId="{9465354C-7D18-4692-B43C-D56D7D4EF702}" srcOrd="2" destOrd="0" presId="urn:microsoft.com/office/officeart/2018/5/layout/IconCircleLabelList"/>
    <dgm:cxn modelId="{A3BD586A-C1CE-4054-826B-2EC40E45E176}" type="presParOf" srcId="{478D7A01-1D13-49B7-930E-23E4CCC6857F}" destId="{D52AD4B0-4B0C-46C6-8CAA-1B00A1541CBF}" srcOrd="3" destOrd="0" presId="urn:microsoft.com/office/officeart/2018/5/layout/IconCircleLabelList"/>
    <dgm:cxn modelId="{0B16AAA6-99F7-4D78-B736-5CD77E6057DF}" type="presParOf" srcId="{FBFB9ACF-96FA-40E7-A669-3713F395B33D}" destId="{D21B85DB-AD6C-49E5-91C8-CB70F55D7120}" srcOrd="9" destOrd="0" presId="urn:microsoft.com/office/officeart/2018/5/layout/IconCircleLabelList"/>
    <dgm:cxn modelId="{50F05A04-B89A-48A6-9323-FECCB4F8986D}" type="presParOf" srcId="{FBFB9ACF-96FA-40E7-A669-3713F395B33D}" destId="{EA770A3A-E3D3-4B64-AC75-AFD0BFDF2E11}" srcOrd="10" destOrd="0" presId="urn:microsoft.com/office/officeart/2018/5/layout/IconCircleLabelList"/>
    <dgm:cxn modelId="{3C9E28D5-36BD-4A99-B916-F89570A6242B}" type="presParOf" srcId="{EA770A3A-E3D3-4B64-AC75-AFD0BFDF2E11}" destId="{41644E51-E6B7-4BB2-A47D-4C39491369EA}" srcOrd="0" destOrd="0" presId="urn:microsoft.com/office/officeart/2018/5/layout/IconCircleLabelList"/>
    <dgm:cxn modelId="{CC507CB5-C5B7-4905-97B9-4F183BD6DB2C}" type="presParOf" srcId="{EA770A3A-E3D3-4B64-AC75-AFD0BFDF2E11}" destId="{7E3DAE30-B5A0-42FD-AA6C-665E593D657D}" srcOrd="1" destOrd="0" presId="urn:microsoft.com/office/officeart/2018/5/layout/IconCircleLabelList"/>
    <dgm:cxn modelId="{F7175ED2-4AA6-444E-86F8-32C372101622}" type="presParOf" srcId="{EA770A3A-E3D3-4B64-AC75-AFD0BFDF2E11}" destId="{1CAE745E-C745-4AA2-A915-3B4D019761A1}" srcOrd="2" destOrd="0" presId="urn:microsoft.com/office/officeart/2018/5/layout/IconCircleLabelList"/>
    <dgm:cxn modelId="{AFA12BF9-2D61-4FB1-BAA5-424FBC8797E2}" type="presParOf" srcId="{EA770A3A-E3D3-4B64-AC75-AFD0BFDF2E11}" destId="{3A784827-2D10-49EE-A2AF-51BC3AC94E7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31D59B-9001-473A-B95B-6BAA9A4431C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423703F6-ABED-4C14-B541-D40A15004EBB}">
      <dgm:prSet/>
      <dgm:spPr/>
      <dgm:t>
        <a:bodyPr/>
        <a:lstStyle/>
        <a:p>
          <a:r>
            <a:rPr lang="en-US" dirty="0"/>
            <a:t>Calculate source profiles and source contributions, a source apportionment model.</a:t>
          </a:r>
        </a:p>
      </dgm:t>
    </dgm:pt>
    <dgm:pt modelId="{7F65DC18-1C8D-45AD-9D73-96F85C80D20D}" type="parTrans" cxnId="{2661A00D-2103-4ECE-AA35-10B7B2F0B02F}">
      <dgm:prSet/>
      <dgm:spPr/>
      <dgm:t>
        <a:bodyPr/>
        <a:lstStyle/>
        <a:p>
          <a:endParaRPr lang="en-US"/>
        </a:p>
      </dgm:t>
    </dgm:pt>
    <dgm:pt modelId="{62EDDEEC-F565-446A-87A4-F1332755EACA}" type="sibTrans" cxnId="{2661A00D-2103-4ECE-AA35-10B7B2F0B02F}">
      <dgm:prSet/>
      <dgm:spPr/>
      <dgm:t>
        <a:bodyPr/>
        <a:lstStyle/>
        <a:p>
          <a:endParaRPr lang="en-US"/>
        </a:p>
      </dgm:t>
    </dgm:pt>
    <dgm:pt modelId="{9B96584C-761F-4183-ACE1-445888033F49}">
      <dgm:prSet/>
      <dgm:spPr/>
      <dgm:t>
        <a:bodyPr/>
        <a:lstStyle/>
        <a:p>
          <a:r>
            <a:rPr lang="en-US"/>
            <a:t>Evaluate source apportionment model against input data, metrics and plots.</a:t>
          </a:r>
        </a:p>
      </dgm:t>
    </dgm:pt>
    <dgm:pt modelId="{C516315C-6A38-403D-B35A-0DCC65F64165}" type="parTrans" cxnId="{D1FE554B-9717-4070-969C-B27F2BA639B8}">
      <dgm:prSet/>
      <dgm:spPr/>
      <dgm:t>
        <a:bodyPr/>
        <a:lstStyle/>
        <a:p>
          <a:endParaRPr lang="en-US"/>
        </a:p>
      </dgm:t>
    </dgm:pt>
    <dgm:pt modelId="{EEF7F711-56EB-4AB1-9424-B8CD3FC5ECE1}" type="sibTrans" cxnId="{D1FE554B-9717-4070-969C-B27F2BA639B8}">
      <dgm:prSet/>
      <dgm:spPr/>
      <dgm:t>
        <a:bodyPr/>
        <a:lstStyle/>
        <a:p>
          <a:endParaRPr lang="en-US"/>
        </a:p>
      </dgm:t>
    </dgm:pt>
    <dgm:pt modelId="{190ED720-40A9-4F15-B48A-7EE74A2C7B6A}">
      <dgm:prSet/>
      <dgm:spPr/>
      <dgm:t>
        <a:bodyPr/>
        <a:lstStyle/>
        <a:p>
          <a:r>
            <a:rPr lang="en-US" dirty="0"/>
            <a:t>Utilize the input uncertainty into the model.</a:t>
          </a:r>
        </a:p>
      </dgm:t>
    </dgm:pt>
    <dgm:pt modelId="{8F6E8DC9-3FAE-49E3-B9A2-714C72F3C324}" type="parTrans" cxnId="{854B7797-14B8-4819-8753-DF7E53BF4AED}">
      <dgm:prSet/>
      <dgm:spPr/>
      <dgm:t>
        <a:bodyPr/>
        <a:lstStyle/>
        <a:p>
          <a:endParaRPr lang="en-US"/>
        </a:p>
      </dgm:t>
    </dgm:pt>
    <dgm:pt modelId="{44B21E24-17D4-4CCE-A838-EBC36C319D5C}" type="sibTrans" cxnId="{854B7797-14B8-4819-8753-DF7E53BF4AED}">
      <dgm:prSet/>
      <dgm:spPr/>
      <dgm:t>
        <a:bodyPr/>
        <a:lstStyle/>
        <a:p>
          <a:endParaRPr lang="en-US"/>
        </a:p>
      </dgm:t>
    </dgm:pt>
    <dgm:pt modelId="{AAA73016-0DF2-4866-AF52-0485339EE809}">
      <dgm:prSet/>
      <dgm:spPr/>
      <dgm:t>
        <a:bodyPr/>
        <a:lstStyle/>
        <a:p>
          <a:r>
            <a:rPr lang="en-US"/>
            <a:t>Can we evaluate the model’s potential error?</a:t>
          </a:r>
        </a:p>
      </dgm:t>
    </dgm:pt>
    <dgm:pt modelId="{A940D064-7A16-47F1-80A1-7FAE49755EC0}" type="parTrans" cxnId="{40C20424-8C98-4A60-851D-220392C2A575}">
      <dgm:prSet/>
      <dgm:spPr/>
      <dgm:t>
        <a:bodyPr/>
        <a:lstStyle/>
        <a:p>
          <a:endParaRPr lang="en-US"/>
        </a:p>
      </dgm:t>
    </dgm:pt>
    <dgm:pt modelId="{7D59ABA0-6E1B-4369-B920-37C7C38448E5}" type="sibTrans" cxnId="{40C20424-8C98-4A60-851D-220392C2A575}">
      <dgm:prSet/>
      <dgm:spPr/>
      <dgm:t>
        <a:bodyPr/>
        <a:lstStyle/>
        <a:p>
          <a:endParaRPr lang="en-US"/>
        </a:p>
      </dgm:t>
    </dgm:pt>
    <dgm:pt modelId="{265202BA-998E-486B-BB78-CC434E35D669}">
      <dgm:prSet/>
      <dgm:spPr/>
      <dgm:t>
        <a:bodyPr/>
        <a:lstStyle/>
        <a:p>
          <a:r>
            <a:rPr lang="en-US"/>
            <a:t>How can we evaluate the results of multiple models, created from the same input data?</a:t>
          </a:r>
        </a:p>
      </dgm:t>
    </dgm:pt>
    <dgm:pt modelId="{1DFDEF33-3037-41BA-AD3E-7D1BDBE1A59F}" type="parTrans" cxnId="{65F13BE6-75FB-4ACA-AFB0-939F0AE4DA4B}">
      <dgm:prSet/>
      <dgm:spPr/>
      <dgm:t>
        <a:bodyPr/>
        <a:lstStyle/>
        <a:p>
          <a:endParaRPr lang="en-US"/>
        </a:p>
      </dgm:t>
    </dgm:pt>
    <dgm:pt modelId="{59E1D731-0024-4659-9BBC-FC3771C8C27E}" type="sibTrans" cxnId="{65F13BE6-75FB-4ACA-AFB0-939F0AE4DA4B}">
      <dgm:prSet/>
      <dgm:spPr/>
      <dgm:t>
        <a:bodyPr/>
        <a:lstStyle/>
        <a:p>
          <a:endParaRPr lang="en-US"/>
        </a:p>
      </dgm:t>
    </dgm:pt>
    <dgm:pt modelId="{87FBD28A-502D-40A2-90CF-C566512E247D}">
      <dgm:prSet/>
      <dgm:spPr/>
      <dgm:t>
        <a:bodyPr/>
        <a:lstStyle/>
        <a:p>
          <a:r>
            <a:rPr lang="en-US"/>
            <a:t>What other conclusions can we make about what the input data and model represent?</a:t>
          </a:r>
        </a:p>
      </dgm:t>
    </dgm:pt>
    <dgm:pt modelId="{56C6EFEA-49F8-4CA3-85A6-3FF6C380075F}" type="parTrans" cxnId="{1D3FBCE5-03D7-4105-860D-775196FEFED2}">
      <dgm:prSet/>
      <dgm:spPr/>
      <dgm:t>
        <a:bodyPr/>
        <a:lstStyle/>
        <a:p>
          <a:endParaRPr lang="en-US"/>
        </a:p>
      </dgm:t>
    </dgm:pt>
    <dgm:pt modelId="{6ABA9455-D8A1-4831-B9CB-F52404C0CEC5}" type="sibTrans" cxnId="{1D3FBCE5-03D7-4105-860D-775196FEFED2}">
      <dgm:prSet/>
      <dgm:spPr/>
      <dgm:t>
        <a:bodyPr/>
        <a:lstStyle/>
        <a:p>
          <a:endParaRPr lang="en-US"/>
        </a:p>
      </dgm:t>
    </dgm:pt>
    <dgm:pt modelId="{833A4A31-806C-4CF8-B643-7B157D0C8C7D}">
      <dgm:prSet/>
      <dgm:spPr/>
      <dgm:t>
        <a:bodyPr/>
        <a:lstStyle/>
        <a:p>
          <a:r>
            <a:rPr lang="en-US" dirty="0"/>
            <a:t>How can the input data be analyzed?</a:t>
          </a:r>
        </a:p>
      </dgm:t>
    </dgm:pt>
    <dgm:pt modelId="{EE04E31C-B82A-4145-AC0E-59DACB629423}" type="parTrans" cxnId="{4DF9FCA9-CB09-4774-9034-2FBF82B01F75}">
      <dgm:prSet/>
      <dgm:spPr/>
      <dgm:t>
        <a:bodyPr/>
        <a:lstStyle/>
        <a:p>
          <a:endParaRPr lang="en-US"/>
        </a:p>
      </dgm:t>
    </dgm:pt>
    <dgm:pt modelId="{032A329A-C4D9-4216-B8F2-1D8CD4E17B20}" type="sibTrans" cxnId="{4DF9FCA9-CB09-4774-9034-2FBF82B01F75}">
      <dgm:prSet/>
      <dgm:spPr/>
      <dgm:t>
        <a:bodyPr/>
        <a:lstStyle/>
        <a:p>
          <a:endParaRPr lang="en-US"/>
        </a:p>
      </dgm:t>
    </dgm:pt>
    <dgm:pt modelId="{B0AB46FB-E837-4F5A-92F4-020FACD4C8F3}" type="pres">
      <dgm:prSet presAssocID="{7031D59B-9001-473A-B95B-6BAA9A4431C1}" presName="diagram" presStyleCnt="0">
        <dgm:presLayoutVars>
          <dgm:dir/>
          <dgm:resizeHandles val="exact"/>
        </dgm:presLayoutVars>
      </dgm:prSet>
      <dgm:spPr/>
    </dgm:pt>
    <dgm:pt modelId="{12866B4D-15E9-4FC9-A721-B51535DBECBF}" type="pres">
      <dgm:prSet presAssocID="{833A4A31-806C-4CF8-B643-7B157D0C8C7D}" presName="node" presStyleLbl="node1" presStyleIdx="0" presStyleCnt="7">
        <dgm:presLayoutVars>
          <dgm:bulletEnabled val="1"/>
        </dgm:presLayoutVars>
      </dgm:prSet>
      <dgm:spPr/>
    </dgm:pt>
    <dgm:pt modelId="{D328F694-F08E-4D03-8AA6-E739C43A44E8}" type="pres">
      <dgm:prSet presAssocID="{032A329A-C4D9-4216-B8F2-1D8CD4E17B20}" presName="sibTrans" presStyleCnt="0"/>
      <dgm:spPr/>
    </dgm:pt>
    <dgm:pt modelId="{B3433569-AF19-4DCF-99BB-A9954F4710BC}" type="pres">
      <dgm:prSet presAssocID="{423703F6-ABED-4C14-B541-D40A15004EBB}" presName="node" presStyleLbl="node1" presStyleIdx="1" presStyleCnt="7">
        <dgm:presLayoutVars>
          <dgm:bulletEnabled val="1"/>
        </dgm:presLayoutVars>
      </dgm:prSet>
      <dgm:spPr/>
    </dgm:pt>
    <dgm:pt modelId="{3108AFD9-F5AC-4AC5-8B2E-9167A257AE1E}" type="pres">
      <dgm:prSet presAssocID="{62EDDEEC-F565-446A-87A4-F1332755EACA}" presName="sibTrans" presStyleCnt="0"/>
      <dgm:spPr/>
    </dgm:pt>
    <dgm:pt modelId="{AD62555A-E39B-4CCC-A3B5-AA9BDEC2FD21}" type="pres">
      <dgm:prSet presAssocID="{9B96584C-761F-4183-ACE1-445888033F49}" presName="node" presStyleLbl="node1" presStyleIdx="2" presStyleCnt="7">
        <dgm:presLayoutVars>
          <dgm:bulletEnabled val="1"/>
        </dgm:presLayoutVars>
      </dgm:prSet>
      <dgm:spPr/>
    </dgm:pt>
    <dgm:pt modelId="{498C3A5C-F3CA-4C48-A647-3AF56C82EEF3}" type="pres">
      <dgm:prSet presAssocID="{EEF7F711-56EB-4AB1-9424-B8CD3FC5ECE1}" presName="sibTrans" presStyleCnt="0"/>
      <dgm:spPr/>
    </dgm:pt>
    <dgm:pt modelId="{63B658E4-7AE6-40ED-88AC-FBA13A859597}" type="pres">
      <dgm:prSet presAssocID="{190ED720-40A9-4F15-B48A-7EE74A2C7B6A}" presName="node" presStyleLbl="node1" presStyleIdx="3" presStyleCnt="7">
        <dgm:presLayoutVars>
          <dgm:bulletEnabled val="1"/>
        </dgm:presLayoutVars>
      </dgm:prSet>
      <dgm:spPr/>
    </dgm:pt>
    <dgm:pt modelId="{868CD10C-2928-40C7-A395-BF83E4C54839}" type="pres">
      <dgm:prSet presAssocID="{44B21E24-17D4-4CCE-A838-EBC36C319D5C}" presName="sibTrans" presStyleCnt="0"/>
      <dgm:spPr/>
    </dgm:pt>
    <dgm:pt modelId="{BBF4B5E3-FBA4-4F8D-A0D0-D5316D3A7993}" type="pres">
      <dgm:prSet presAssocID="{AAA73016-0DF2-4866-AF52-0485339EE809}" presName="node" presStyleLbl="node1" presStyleIdx="4" presStyleCnt="7">
        <dgm:presLayoutVars>
          <dgm:bulletEnabled val="1"/>
        </dgm:presLayoutVars>
      </dgm:prSet>
      <dgm:spPr/>
    </dgm:pt>
    <dgm:pt modelId="{55207105-9174-4FD7-A612-DB323355CB29}" type="pres">
      <dgm:prSet presAssocID="{7D59ABA0-6E1B-4369-B920-37C7C38448E5}" presName="sibTrans" presStyleCnt="0"/>
      <dgm:spPr/>
    </dgm:pt>
    <dgm:pt modelId="{8DEC64BD-2224-4D14-9E7B-A47C73FEFEAD}" type="pres">
      <dgm:prSet presAssocID="{265202BA-998E-486B-BB78-CC434E35D669}" presName="node" presStyleLbl="node1" presStyleIdx="5" presStyleCnt="7">
        <dgm:presLayoutVars>
          <dgm:bulletEnabled val="1"/>
        </dgm:presLayoutVars>
      </dgm:prSet>
      <dgm:spPr/>
    </dgm:pt>
    <dgm:pt modelId="{EFAE384C-18ED-43ED-85AD-DFFC86A1F27C}" type="pres">
      <dgm:prSet presAssocID="{59E1D731-0024-4659-9BBC-FC3771C8C27E}" presName="sibTrans" presStyleCnt="0"/>
      <dgm:spPr/>
    </dgm:pt>
    <dgm:pt modelId="{CBF3AB4D-1CD0-4709-B4F0-40C7CB0FBADA}" type="pres">
      <dgm:prSet presAssocID="{87FBD28A-502D-40A2-90CF-C566512E247D}" presName="node" presStyleLbl="node1" presStyleIdx="6" presStyleCnt="7">
        <dgm:presLayoutVars>
          <dgm:bulletEnabled val="1"/>
        </dgm:presLayoutVars>
      </dgm:prSet>
      <dgm:spPr/>
    </dgm:pt>
  </dgm:ptLst>
  <dgm:cxnLst>
    <dgm:cxn modelId="{2661A00D-2103-4ECE-AA35-10B7B2F0B02F}" srcId="{7031D59B-9001-473A-B95B-6BAA9A4431C1}" destId="{423703F6-ABED-4C14-B541-D40A15004EBB}" srcOrd="1" destOrd="0" parTransId="{7F65DC18-1C8D-45AD-9D73-96F85C80D20D}" sibTransId="{62EDDEEC-F565-446A-87A4-F1332755EACA}"/>
    <dgm:cxn modelId="{40C20424-8C98-4A60-851D-220392C2A575}" srcId="{7031D59B-9001-473A-B95B-6BAA9A4431C1}" destId="{AAA73016-0DF2-4866-AF52-0485339EE809}" srcOrd="4" destOrd="0" parTransId="{A940D064-7A16-47F1-80A1-7FAE49755EC0}" sibTransId="{7D59ABA0-6E1B-4369-B920-37C7C38448E5}"/>
    <dgm:cxn modelId="{630F1A2D-43FA-428F-9614-557A5DA194BE}" type="presOf" srcId="{190ED720-40A9-4F15-B48A-7EE74A2C7B6A}" destId="{63B658E4-7AE6-40ED-88AC-FBA13A859597}" srcOrd="0" destOrd="0" presId="urn:microsoft.com/office/officeart/2005/8/layout/default"/>
    <dgm:cxn modelId="{AE48AC5B-D742-4254-9542-81B7E3E09DC9}" type="presOf" srcId="{AAA73016-0DF2-4866-AF52-0485339EE809}" destId="{BBF4B5E3-FBA4-4F8D-A0D0-D5316D3A7993}" srcOrd="0" destOrd="0" presId="urn:microsoft.com/office/officeart/2005/8/layout/default"/>
    <dgm:cxn modelId="{5C6B916A-6FAA-4E5B-AE97-FBECF65625CA}" type="presOf" srcId="{423703F6-ABED-4C14-B541-D40A15004EBB}" destId="{B3433569-AF19-4DCF-99BB-A9954F4710BC}" srcOrd="0" destOrd="0" presId="urn:microsoft.com/office/officeart/2005/8/layout/default"/>
    <dgm:cxn modelId="{D1FE554B-9717-4070-969C-B27F2BA639B8}" srcId="{7031D59B-9001-473A-B95B-6BAA9A4431C1}" destId="{9B96584C-761F-4183-ACE1-445888033F49}" srcOrd="2" destOrd="0" parTransId="{C516315C-6A38-403D-B35A-0DCC65F64165}" sibTransId="{EEF7F711-56EB-4AB1-9424-B8CD3FC5ECE1}"/>
    <dgm:cxn modelId="{46A8AA52-81CC-4775-8045-DF8232CB4CCD}" type="presOf" srcId="{265202BA-998E-486B-BB78-CC434E35D669}" destId="{8DEC64BD-2224-4D14-9E7B-A47C73FEFEAD}" srcOrd="0" destOrd="0" presId="urn:microsoft.com/office/officeart/2005/8/layout/default"/>
    <dgm:cxn modelId="{9D25CF56-5641-4576-9171-26D912C3C5CE}" type="presOf" srcId="{7031D59B-9001-473A-B95B-6BAA9A4431C1}" destId="{B0AB46FB-E837-4F5A-92F4-020FACD4C8F3}" srcOrd="0" destOrd="0" presId="urn:microsoft.com/office/officeart/2005/8/layout/default"/>
    <dgm:cxn modelId="{CE302779-A0E0-4AA1-8F54-A3C81580C536}" type="presOf" srcId="{833A4A31-806C-4CF8-B643-7B157D0C8C7D}" destId="{12866B4D-15E9-4FC9-A721-B51535DBECBF}" srcOrd="0" destOrd="0" presId="urn:microsoft.com/office/officeart/2005/8/layout/default"/>
    <dgm:cxn modelId="{854B7797-14B8-4819-8753-DF7E53BF4AED}" srcId="{7031D59B-9001-473A-B95B-6BAA9A4431C1}" destId="{190ED720-40A9-4F15-B48A-7EE74A2C7B6A}" srcOrd="3" destOrd="0" parTransId="{8F6E8DC9-3FAE-49E3-B9A2-714C72F3C324}" sibTransId="{44B21E24-17D4-4CCE-A838-EBC36C319D5C}"/>
    <dgm:cxn modelId="{96A73A9D-4C9B-4D3F-869A-E2535D512CC6}" type="presOf" srcId="{9B96584C-761F-4183-ACE1-445888033F49}" destId="{AD62555A-E39B-4CCC-A3B5-AA9BDEC2FD21}" srcOrd="0" destOrd="0" presId="urn:microsoft.com/office/officeart/2005/8/layout/default"/>
    <dgm:cxn modelId="{4DF9FCA9-CB09-4774-9034-2FBF82B01F75}" srcId="{7031D59B-9001-473A-B95B-6BAA9A4431C1}" destId="{833A4A31-806C-4CF8-B643-7B157D0C8C7D}" srcOrd="0" destOrd="0" parTransId="{EE04E31C-B82A-4145-AC0E-59DACB629423}" sibTransId="{032A329A-C4D9-4216-B8F2-1D8CD4E17B20}"/>
    <dgm:cxn modelId="{1D3FBCE5-03D7-4105-860D-775196FEFED2}" srcId="{7031D59B-9001-473A-B95B-6BAA9A4431C1}" destId="{87FBD28A-502D-40A2-90CF-C566512E247D}" srcOrd="6" destOrd="0" parTransId="{56C6EFEA-49F8-4CA3-85A6-3FF6C380075F}" sibTransId="{6ABA9455-D8A1-4831-B9CB-F52404C0CEC5}"/>
    <dgm:cxn modelId="{65F13BE6-75FB-4ACA-AFB0-939F0AE4DA4B}" srcId="{7031D59B-9001-473A-B95B-6BAA9A4431C1}" destId="{265202BA-998E-486B-BB78-CC434E35D669}" srcOrd="5" destOrd="0" parTransId="{1DFDEF33-3037-41BA-AD3E-7D1BDBE1A59F}" sibTransId="{59E1D731-0024-4659-9BBC-FC3771C8C27E}"/>
    <dgm:cxn modelId="{191F33FB-FC4B-4248-81F3-1F69A929E14C}" type="presOf" srcId="{87FBD28A-502D-40A2-90CF-C566512E247D}" destId="{CBF3AB4D-1CD0-4709-B4F0-40C7CB0FBADA}" srcOrd="0" destOrd="0" presId="urn:microsoft.com/office/officeart/2005/8/layout/default"/>
    <dgm:cxn modelId="{F8602178-8A17-4E11-83D5-62A6A7861BE6}" type="presParOf" srcId="{B0AB46FB-E837-4F5A-92F4-020FACD4C8F3}" destId="{12866B4D-15E9-4FC9-A721-B51535DBECBF}" srcOrd="0" destOrd="0" presId="urn:microsoft.com/office/officeart/2005/8/layout/default"/>
    <dgm:cxn modelId="{3FB8EE9F-C10F-49E1-ADC4-116BD9E013C0}" type="presParOf" srcId="{B0AB46FB-E837-4F5A-92F4-020FACD4C8F3}" destId="{D328F694-F08E-4D03-8AA6-E739C43A44E8}" srcOrd="1" destOrd="0" presId="urn:microsoft.com/office/officeart/2005/8/layout/default"/>
    <dgm:cxn modelId="{105E7FC5-5B6B-4A00-9357-8EAAE48D7D68}" type="presParOf" srcId="{B0AB46FB-E837-4F5A-92F4-020FACD4C8F3}" destId="{B3433569-AF19-4DCF-99BB-A9954F4710BC}" srcOrd="2" destOrd="0" presId="urn:microsoft.com/office/officeart/2005/8/layout/default"/>
    <dgm:cxn modelId="{A9CBAFD3-292E-4C5A-B728-7A2EC244A2D0}" type="presParOf" srcId="{B0AB46FB-E837-4F5A-92F4-020FACD4C8F3}" destId="{3108AFD9-F5AC-4AC5-8B2E-9167A257AE1E}" srcOrd="3" destOrd="0" presId="urn:microsoft.com/office/officeart/2005/8/layout/default"/>
    <dgm:cxn modelId="{E78E937D-7097-4E15-9B03-DB75E146F2CF}" type="presParOf" srcId="{B0AB46FB-E837-4F5A-92F4-020FACD4C8F3}" destId="{AD62555A-E39B-4CCC-A3B5-AA9BDEC2FD21}" srcOrd="4" destOrd="0" presId="urn:microsoft.com/office/officeart/2005/8/layout/default"/>
    <dgm:cxn modelId="{66196AFB-303F-4C6F-B8B5-0267DBE01D95}" type="presParOf" srcId="{B0AB46FB-E837-4F5A-92F4-020FACD4C8F3}" destId="{498C3A5C-F3CA-4C48-A647-3AF56C82EEF3}" srcOrd="5" destOrd="0" presId="urn:microsoft.com/office/officeart/2005/8/layout/default"/>
    <dgm:cxn modelId="{4987F894-8A54-47E7-888F-2FFFE694C905}" type="presParOf" srcId="{B0AB46FB-E837-4F5A-92F4-020FACD4C8F3}" destId="{63B658E4-7AE6-40ED-88AC-FBA13A859597}" srcOrd="6" destOrd="0" presId="urn:microsoft.com/office/officeart/2005/8/layout/default"/>
    <dgm:cxn modelId="{0190F589-DE04-457F-BE50-403CBCD42067}" type="presParOf" srcId="{B0AB46FB-E837-4F5A-92F4-020FACD4C8F3}" destId="{868CD10C-2928-40C7-A395-BF83E4C54839}" srcOrd="7" destOrd="0" presId="urn:microsoft.com/office/officeart/2005/8/layout/default"/>
    <dgm:cxn modelId="{BC71CFCE-636B-424E-994C-B6483F1000DA}" type="presParOf" srcId="{B0AB46FB-E837-4F5A-92F4-020FACD4C8F3}" destId="{BBF4B5E3-FBA4-4F8D-A0D0-D5316D3A7993}" srcOrd="8" destOrd="0" presId="urn:microsoft.com/office/officeart/2005/8/layout/default"/>
    <dgm:cxn modelId="{D16AEA18-4C61-40DE-A338-21BFF3CD9861}" type="presParOf" srcId="{B0AB46FB-E837-4F5A-92F4-020FACD4C8F3}" destId="{55207105-9174-4FD7-A612-DB323355CB29}" srcOrd="9" destOrd="0" presId="urn:microsoft.com/office/officeart/2005/8/layout/default"/>
    <dgm:cxn modelId="{FE2825AA-CA37-46EA-9288-7F5AC7BBEF41}" type="presParOf" srcId="{B0AB46FB-E837-4F5A-92F4-020FACD4C8F3}" destId="{8DEC64BD-2224-4D14-9E7B-A47C73FEFEAD}" srcOrd="10" destOrd="0" presId="urn:microsoft.com/office/officeart/2005/8/layout/default"/>
    <dgm:cxn modelId="{70CC239D-A62F-40CA-9AA2-6C354F699C5B}" type="presParOf" srcId="{B0AB46FB-E837-4F5A-92F4-020FACD4C8F3}" destId="{EFAE384C-18ED-43ED-85AD-DFFC86A1F27C}" srcOrd="11" destOrd="0" presId="urn:microsoft.com/office/officeart/2005/8/layout/default"/>
    <dgm:cxn modelId="{985FBF5A-963D-471F-99EE-9B9DCF7C3C31}" type="presParOf" srcId="{B0AB46FB-E837-4F5A-92F4-020FACD4C8F3}" destId="{CBF3AB4D-1CD0-4709-B4F0-40C7CB0FBADA}" srcOrd="1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E86526-5E19-4CA1-859B-1A934F6F1648}">
      <dsp:nvSpPr>
        <dsp:cNvPr id="0" name=""/>
        <dsp:cNvSpPr/>
      </dsp:nvSpPr>
      <dsp:spPr>
        <a:xfrm>
          <a:off x="813232" y="5047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B6012B-044E-486E-A53C-8AEA1D831E29}">
      <dsp:nvSpPr>
        <dsp:cNvPr id="0" name=""/>
        <dsp:cNvSpPr/>
      </dsp:nvSpPr>
      <dsp:spPr>
        <a:xfrm>
          <a:off x="1047232" y="28447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21D49F7-FE8E-4295-9F62-A782D419DDBE}">
      <dsp:nvSpPr>
        <dsp:cNvPr id="0" name=""/>
        <dsp:cNvSpPr/>
      </dsp:nvSpPr>
      <dsp:spPr>
        <a:xfrm>
          <a:off x="180208" y="1490472"/>
          <a:ext cx="2364048" cy="1364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t>Source apportionment is a numerical procedure that is typically independent of units. </a:t>
          </a:r>
        </a:p>
      </dsp:txBody>
      <dsp:txXfrm>
        <a:off x="180208" y="1490472"/>
        <a:ext cx="2364048" cy="1364296"/>
      </dsp:txXfrm>
    </dsp:sp>
    <dsp:sp modelId="{FA043445-A6B2-4952-A300-7A60AC6066E8}">
      <dsp:nvSpPr>
        <dsp:cNvPr id="0" name=""/>
        <dsp:cNvSpPr/>
      </dsp:nvSpPr>
      <dsp:spPr>
        <a:xfrm>
          <a:off x="3639305" y="48248"/>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0ED6DC-ABBF-42FA-B5FC-57B1DFCC75DA}">
      <dsp:nvSpPr>
        <dsp:cNvPr id="0" name=""/>
        <dsp:cNvSpPr/>
      </dsp:nvSpPr>
      <dsp:spPr>
        <a:xfrm>
          <a:off x="3873305" y="282248"/>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0A7F5A-B99D-42ED-A3C4-691D6450728F}">
      <dsp:nvSpPr>
        <dsp:cNvPr id="0" name=""/>
        <dsp:cNvSpPr/>
      </dsp:nvSpPr>
      <dsp:spPr>
        <a:xfrm>
          <a:off x="2859256" y="1488248"/>
          <a:ext cx="2658096" cy="1368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defRPr cap="all"/>
          </a:pPr>
          <a:r>
            <a:rPr lang="en-US" sz="1200" b="1" kern="1200" dirty="0"/>
            <a:t>Data could represent chemicals, contaminants, heavy metals, or any feature which can be represented numerically.</a:t>
          </a:r>
        </a:p>
      </dsp:txBody>
      <dsp:txXfrm>
        <a:off x="2859256" y="1488248"/>
        <a:ext cx="2658096" cy="1368744"/>
      </dsp:txXfrm>
    </dsp:sp>
    <dsp:sp modelId="{C34D67EC-5FC8-4350-A782-D96D6CA99E18}">
      <dsp:nvSpPr>
        <dsp:cNvPr id="0" name=""/>
        <dsp:cNvSpPr/>
      </dsp:nvSpPr>
      <dsp:spPr>
        <a:xfrm>
          <a:off x="6183352" y="48248"/>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F08E2D-32DA-4183-A4EB-D63B1BA31D15}">
      <dsp:nvSpPr>
        <dsp:cNvPr id="0" name=""/>
        <dsp:cNvSpPr/>
      </dsp:nvSpPr>
      <dsp:spPr>
        <a:xfrm>
          <a:off x="6417352" y="282248"/>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A86277-86E2-4E30-A491-BFABCCAC1B89}">
      <dsp:nvSpPr>
        <dsp:cNvPr id="0" name=""/>
        <dsp:cNvSpPr/>
      </dsp:nvSpPr>
      <dsp:spPr>
        <a:xfrm>
          <a:off x="5832352" y="1488248"/>
          <a:ext cx="1800000" cy="1368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The data could be air quality sensor readings, water quality measurements, or other sensor data.</a:t>
          </a:r>
        </a:p>
      </dsp:txBody>
      <dsp:txXfrm>
        <a:off x="5832352" y="1488248"/>
        <a:ext cx="1800000" cy="1368744"/>
      </dsp:txXfrm>
    </dsp:sp>
    <dsp:sp modelId="{905B20F2-CC83-4828-9481-88B1F0F24F15}">
      <dsp:nvSpPr>
        <dsp:cNvPr id="0" name=""/>
        <dsp:cNvSpPr/>
      </dsp:nvSpPr>
      <dsp:spPr>
        <a:xfrm>
          <a:off x="894583" y="3306993"/>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8D80CF-32E0-435E-A44E-8F63DBF4F551}">
      <dsp:nvSpPr>
        <dsp:cNvPr id="0" name=""/>
        <dsp:cNvSpPr/>
      </dsp:nvSpPr>
      <dsp:spPr>
        <a:xfrm>
          <a:off x="1128583" y="3540993"/>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AC2EC7-B9CF-407D-8A0B-892D2D91155E}">
      <dsp:nvSpPr>
        <dsp:cNvPr id="0" name=""/>
        <dsp:cNvSpPr/>
      </dsp:nvSpPr>
      <dsp:spPr>
        <a:xfrm>
          <a:off x="543583" y="4746993"/>
          <a:ext cx="1800000" cy="1368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Environmental source apportionment data is generally time-series data, though is considered temporally independent.</a:t>
          </a:r>
        </a:p>
      </dsp:txBody>
      <dsp:txXfrm>
        <a:off x="543583" y="4746993"/>
        <a:ext cx="1800000" cy="1368744"/>
      </dsp:txXfrm>
    </dsp:sp>
    <dsp:sp modelId="{0FE3DDA3-5D82-407D-8599-CED9871E34BB}">
      <dsp:nvSpPr>
        <dsp:cNvPr id="0" name=""/>
        <dsp:cNvSpPr/>
      </dsp:nvSpPr>
      <dsp:spPr>
        <a:xfrm>
          <a:off x="3009583" y="3306993"/>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769233-A1AE-4256-AECC-50396C23C2D9}">
      <dsp:nvSpPr>
        <dsp:cNvPr id="0" name=""/>
        <dsp:cNvSpPr/>
      </dsp:nvSpPr>
      <dsp:spPr>
        <a:xfrm>
          <a:off x="3243583" y="3540993"/>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2AD4B0-4B0C-46C6-8CAA-1B00A1541CBF}">
      <dsp:nvSpPr>
        <dsp:cNvPr id="0" name=""/>
        <dsp:cNvSpPr/>
      </dsp:nvSpPr>
      <dsp:spPr>
        <a:xfrm>
          <a:off x="2658583" y="4746993"/>
          <a:ext cx="1800000" cy="1368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The context of the data directly determines how you interpret source apportionment Output.</a:t>
          </a:r>
        </a:p>
      </dsp:txBody>
      <dsp:txXfrm>
        <a:off x="2658583" y="4746993"/>
        <a:ext cx="1800000" cy="1368744"/>
      </dsp:txXfrm>
    </dsp:sp>
    <dsp:sp modelId="{41644E51-E6B7-4BB2-A47D-4C39491369EA}">
      <dsp:nvSpPr>
        <dsp:cNvPr id="0" name=""/>
        <dsp:cNvSpPr/>
      </dsp:nvSpPr>
      <dsp:spPr>
        <a:xfrm>
          <a:off x="5472280" y="3306993"/>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3DAE30-B5A0-42FD-AA6C-665E593D657D}">
      <dsp:nvSpPr>
        <dsp:cNvPr id="0" name=""/>
        <dsp:cNvSpPr/>
      </dsp:nvSpPr>
      <dsp:spPr>
        <a:xfrm>
          <a:off x="5706280" y="3540993"/>
          <a:ext cx="630000" cy="630000"/>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784827-2D10-49EE-A2AF-51BC3AC94E7A}">
      <dsp:nvSpPr>
        <dsp:cNvPr id="0" name=""/>
        <dsp:cNvSpPr/>
      </dsp:nvSpPr>
      <dsp:spPr>
        <a:xfrm>
          <a:off x="4773583" y="4746993"/>
          <a:ext cx="2495394" cy="13687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b="1" kern="1200" dirty="0"/>
            <a:t>Environmental time-series data can also have corresponding uncertainty values, due to sensor uncertainty/limitations.</a:t>
          </a:r>
        </a:p>
      </dsp:txBody>
      <dsp:txXfrm>
        <a:off x="4773583" y="4746993"/>
        <a:ext cx="2495394" cy="13687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866B4D-15E9-4FC9-A721-B51535DBECBF}">
      <dsp:nvSpPr>
        <dsp:cNvPr id="0" name=""/>
        <dsp:cNvSpPr/>
      </dsp:nvSpPr>
      <dsp:spPr>
        <a:xfrm>
          <a:off x="3019" y="325718"/>
          <a:ext cx="2395232" cy="1437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How can the input data be analyzed?</a:t>
          </a:r>
        </a:p>
      </dsp:txBody>
      <dsp:txXfrm>
        <a:off x="3019" y="325718"/>
        <a:ext cx="2395232" cy="1437139"/>
      </dsp:txXfrm>
    </dsp:sp>
    <dsp:sp modelId="{B3433569-AF19-4DCF-99BB-A9954F4710BC}">
      <dsp:nvSpPr>
        <dsp:cNvPr id="0" name=""/>
        <dsp:cNvSpPr/>
      </dsp:nvSpPr>
      <dsp:spPr>
        <a:xfrm>
          <a:off x="2637774" y="325718"/>
          <a:ext cx="2395232" cy="1437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Calculate source profiles and source contributions, a source apportionment model.</a:t>
          </a:r>
        </a:p>
      </dsp:txBody>
      <dsp:txXfrm>
        <a:off x="2637774" y="325718"/>
        <a:ext cx="2395232" cy="1437139"/>
      </dsp:txXfrm>
    </dsp:sp>
    <dsp:sp modelId="{AD62555A-E39B-4CCC-A3B5-AA9BDEC2FD21}">
      <dsp:nvSpPr>
        <dsp:cNvPr id="0" name=""/>
        <dsp:cNvSpPr/>
      </dsp:nvSpPr>
      <dsp:spPr>
        <a:xfrm>
          <a:off x="5272530" y="325718"/>
          <a:ext cx="2395232" cy="1437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Evaluate source apportionment model against input data, metrics and plots.</a:t>
          </a:r>
        </a:p>
      </dsp:txBody>
      <dsp:txXfrm>
        <a:off x="5272530" y="325718"/>
        <a:ext cx="2395232" cy="1437139"/>
      </dsp:txXfrm>
    </dsp:sp>
    <dsp:sp modelId="{63B658E4-7AE6-40ED-88AC-FBA13A859597}">
      <dsp:nvSpPr>
        <dsp:cNvPr id="0" name=""/>
        <dsp:cNvSpPr/>
      </dsp:nvSpPr>
      <dsp:spPr>
        <a:xfrm>
          <a:off x="7907285" y="325718"/>
          <a:ext cx="2395232" cy="1437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Utilize the input uncertainty into the model.</a:t>
          </a:r>
        </a:p>
      </dsp:txBody>
      <dsp:txXfrm>
        <a:off x="7907285" y="325718"/>
        <a:ext cx="2395232" cy="1437139"/>
      </dsp:txXfrm>
    </dsp:sp>
    <dsp:sp modelId="{BBF4B5E3-FBA4-4F8D-A0D0-D5316D3A7993}">
      <dsp:nvSpPr>
        <dsp:cNvPr id="0" name=""/>
        <dsp:cNvSpPr/>
      </dsp:nvSpPr>
      <dsp:spPr>
        <a:xfrm>
          <a:off x="1320396" y="2002380"/>
          <a:ext cx="2395232" cy="1437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Can we evaluate the model’s potential error?</a:t>
          </a:r>
        </a:p>
      </dsp:txBody>
      <dsp:txXfrm>
        <a:off x="1320396" y="2002380"/>
        <a:ext cx="2395232" cy="1437139"/>
      </dsp:txXfrm>
    </dsp:sp>
    <dsp:sp modelId="{8DEC64BD-2224-4D14-9E7B-A47C73FEFEAD}">
      <dsp:nvSpPr>
        <dsp:cNvPr id="0" name=""/>
        <dsp:cNvSpPr/>
      </dsp:nvSpPr>
      <dsp:spPr>
        <a:xfrm>
          <a:off x="3955152" y="2002380"/>
          <a:ext cx="2395232" cy="1437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How can we evaluate the results of multiple models, created from the same input data?</a:t>
          </a:r>
        </a:p>
      </dsp:txBody>
      <dsp:txXfrm>
        <a:off x="3955152" y="2002380"/>
        <a:ext cx="2395232" cy="1437139"/>
      </dsp:txXfrm>
    </dsp:sp>
    <dsp:sp modelId="{CBF3AB4D-1CD0-4709-B4F0-40C7CB0FBADA}">
      <dsp:nvSpPr>
        <dsp:cNvPr id="0" name=""/>
        <dsp:cNvSpPr/>
      </dsp:nvSpPr>
      <dsp:spPr>
        <a:xfrm>
          <a:off x="6589907" y="2002380"/>
          <a:ext cx="2395232" cy="143713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What other conclusions can we make about what the input data and model represent?</a:t>
          </a:r>
        </a:p>
      </dsp:txBody>
      <dsp:txXfrm>
        <a:off x="6589907" y="2002380"/>
        <a:ext cx="2395232" cy="1437139"/>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073D55F9-11A3-4523-8F38-6BA37933791A}" type="datetime1">
              <a:rPr lang="en-US" smtClean="0"/>
              <a:t>9/17/2025</a:t>
            </a:fld>
            <a:endParaRPr lang="en-US"/>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229488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1pPr marL="228600" indent="-228600">
              <a:buFont typeface="Arial" panose="020B0604020202020204" pitchFamily="34" charset="0"/>
              <a:buChar char="•"/>
              <a:defRPr/>
            </a:lvl1pPr>
            <a:lvl2pPr marL="228600" indent="-228600">
              <a:buFont typeface="Arial" panose="020B0604020202020204" pitchFamily="34" charset="0"/>
              <a:buChar char="•"/>
              <a:defRPr/>
            </a:lvl2pPr>
            <a:lvl3pPr marL="228600" indent="-228600">
              <a:buFont typeface="Arial" panose="020B0604020202020204" pitchFamily="34" charset="0"/>
              <a:buChar char="•"/>
              <a:defRPr/>
            </a:lvl3pPr>
            <a:lvl4pPr marL="228600" indent="-228600">
              <a:buFont typeface="Arial" panose="020B0604020202020204" pitchFamily="34" charset="0"/>
              <a:buChar char="•"/>
              <a:defRPr/>
            </a:lvl4pPr>
            <a:lvl5pPr marL="2286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1CB9D56B-6EBE-4E5F-99D9-2A3DBDF37D0A}" type="datetime1">
              <a:rPr lang="en-US" smtClean="0"/>
              <a:t>9/17/2025</a:t>
            </a:fld>
            <a:endParaRPr lang="en-US"/>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2669964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457200" y="1709738"/>
            <a:ext cx="10890250" cy="2852737"/>
          </a:xfrm>
        </p:spPr>
        <p:txBody>
          <a:bodyPr anchor="b"/>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457200" y="4589463"/>
            <a:ext cx="10890250" cy="1500187"/>
          </a:xfrm>
        </p:spPr>
        <p:txBody>
          <a:bodyPr/>
          <a:lstStyle>
            <a:lvl1pPr marL="0" indent="0">
              <a:buNone/>
              <a:defRPr sz="2400">
                <a:solidFill>
                  <a:srgbClr val="FFFFF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8C33F3CA-C7E3-432D-9282-18F13836509A}" type="datetime1">
              <a:rPr lang="en-US" smtClean="0"/>
              <a:t>9/17/2025</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879292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457200" y="1825625"/>
            <a:ext cx="5562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75BE9C62-1337-40B8-BA50-E9F4861DB4BC}" type="datetime1">
              <a:rPr lang="en-US" smtClean="0"/>
              <a:t>9/17/2025</a:t>
            </a:fld>
            <a:endParaRPr lang="en-US"/>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63509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820863"/>
            <a:ext cx="5157787"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3101975"/>
            <a:ext cx="5157787"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820863"/>
            <a:ext cx="5183188" cy="1150937"/>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3101975"/>
            <a:ext cx="5183188" cy="3087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47C195EB-2DA3-4B24-8725-19BC22A7BE50}" type="datetime1">
              <a:rPr lang="en-US" smtClean="0"/>
              <a:t>9/17/2025</a:t>
            </a:fld>
            <a:endParaRPr lang="en-US"/>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537056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F4E237E6-0076-4915-A5A8-B7C11FA4F374}" type="datetime1">
              <a:rPr lang="en-US" smtClean="0"/>
              <a:t>9/17/2025</a:t>
            </a:fld>
            <a:endParaRPr lang="en-US"/>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4219150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3505F58F-C0B5-422A-8E5A-6B99E5D80F0A}" type="datetime1">
              <a:rPr lang="en-US" smtClean="0"/>
              <a:t>9/17/2025</a:t>
            </a:fld>
            <a:endParaRPr lang="en-US"/>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868699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981200"/>
          </a:xfrm>
        </p:spPr>
        <p:txBody>
          <a:bodyPr anchor="b"/>
          <a:lstStyle>
            <a:lvl1pPr>
              <a:defRPr sz="4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7565E655-9687-48DF-A33F-F8824CCCB5D1}" type="datetime1">
              <a:rPr lang="en-US" smtClean="0"/>
              <a:t>9/17/2025</a:t>
            </a:fld>
            <a:endParaRPr lang="en-US"/>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3740041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2209799"/>
          </a:xfrm>
        </p:spPr>
        <p:txBody>
          <a:bodyPr anchor="b"/>
          <a:lstStyle>
            <a:lvl1pPr>
              <a:defRPr sz="4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685801"/>
            <a:ext cx="6172200" cy="5175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971800"/>
            <a:ext cx="3932237" cy="2897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B97FD56A-AAB8-4544-A495-D0645413C9E3}" type="datetime1">
              <a:rPr lang="en-US" smtClean="0"/>
              <a:t>9/17/2025</a:t>
            </a:fld>
            <a:endParaRPr lang="en-US"/>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780976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0B4E757A-3EC2-4683-9080-1A460C37C843}" type="datetime1">
              <a:rPr lang="en-US" smtClean="0"/>
              <a:t>9/17/2025</a:t>
            </a:fld>
            <a:endParaRPr lang="en-US"/>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615056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a:xfrm>
            <a:off x="523539" y="6324600"/>
            <a:ext cx="2560220" cy="365125"/>
          </a:xfrm>
        </p:spPr>
        <p:txBody>
          <a:bodyPr/>
          <a:lstStyle/>
          <a:p>
            <a:fld id="{5CC8096C-64ED-4153-A483-5C02E44AD5C3}" type="datetime1">
              <a:rPr lang="en-US" smtClean="0"/>
              <a:t>9/17/2025</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a:xfrm>
            <a:off x="4267200" y="6319838"/>
            <a:ext cx="3982781"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11A71338-8BA2-4C79-A6C5-5A8E30081D0C}" type="slidenum">
              <a:rPr lang="en-US" smtClean="0"/>
              <a:t>‹#›</a:t>
            </a:fld>
            <a:endParaRPr lang="en-US"/>
          </a:p>
        </p:txBody>
      </p:sp>
    </p:spTree>
    <p:extLst>
      <p:ext uri="{BB962C8B-B14F-4D97-AF65-F5344CB8AC3E}">
        <p14:creationId xmlns:p14="http://schemas.microsoft.com/office/powerpoint/2010/main" val="1224131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5" name="Rectangle 114">
            <a:extLst>
              <a:ext uri="{FF2B5EF4-FFF2-40B4-BE49-F238E27FC236}">
                <a16:creationId xmlns:a16="http://schemas.microsoft.com/office/drawing/2014/main" id="{A4798C7F-C8CA-4799-BF37-3AB4642CDB66}"/>
              </a:ext>
            </a:extLst>
          </p:cNvPr>
          <p:cNvSpPr/>
          <p:nvPr/>
        </p:nvSpPr>
        <p:spPr>
          <a:xfrm>
            <a:off x="0" y="0"/>
            <a:ext cx="121889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80" name="Group 79">
            <a:extLst>
              <a:ext uri="{FF2B5EF4-FFF2-40B4-BE49-F238E27FC236}">
                <a16:creationId xmlns:a16="http://schemas.microsoft.com/office/drawing/2014/main" id="{87F0794B-55D3-4D2D-BDE7-4688ED321E42}"/>
              </a:ext>
            </a:extLst>
          </p:cNvPr>
          <p:cNvGrpSpPr/>
          <p:nvPr/>
        </p:nvGrpSpPr>
        <p:grpSpPr>
          <a:xfrm>
            <a:off x="-11413" y="0"/>
            <a:ext cx="12214827" cy="6858000"/>
            <a:chOff x="-6214" y="-1"/>
            <a:chExt cx="12214827" cy="6858000"/>
          </a:xfrm>
        </p:grpSpPr>
        <p:cxnSp>
          <p:nvCxnSpPr>
            <p:cNvPr id="81" name="Straight Connector 80">
              <a:extLst>
                <a:ext uri="{FF2B5EF4-FFF2-40B4-BE49-F238E27FC236}">
                  <a16:creationId xmlns:a16="http://schemas.microsoft.com/office/drawing/2014/main" id="{BE4C795B-1813-4CC6-B03F-8DD130BEAABD}"/>
                </a:ext>
              </a:extLst>
            </p:cNvPr>
            <p:cNvCxnSpPr>
              <a:cxnSpLocks/>
            </p:cNvCxnSpPr>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E0F4C04D-5CD8-446B-BE3D-257172E6E4CB}"/>
                </a:ext>
              </a:extLst>
            </p:cNvPr>
            <p:cNvCxnSpPr>
              <a:cxnSpLocks/>
            </p:cNvCxnSpPr>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DDC802E-606F-4F39-84B6-90DF0FE54461}"/>
                </a:ext>
              </a:extLst>
            </p:cNvPr>
            <p:cNvCxnSpPr>
              <a:cxnSpLocks/>
            </p:cNvCxnSpPr>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C5B0C75-0136-4A39-9AB6-0F02C4527810}"/>
                </a:ext>
              </a:extLst>
            </p:cNvPr>
            <p:cNvCxnSpPr>
              <a:cxnSpLocks/>
            </p:cNvCxnSpPr>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5ED2B52-3D40-46DE-8B54-99A4071578D8}"/>
                </a:ext>
              </a:extLst>
            </p:cNvPr>
            <p:cNvCxnSpPr>
              <a:cxnSpLocks/>
            </p:cNvCxnSpPr>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8BCEC75-1B6B-45B2-8041-8D933FCF60F5}"/>
                </a:ext>
              </a:extLst>
            </p:cNvPr>
            <p:cNvCxnSpPr>
              <a:cxnSpLocks/>
            </p:cNvCxnSpPr>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6A2FC789-056A-43CC-807E-4262CDC3E0F5}"/>
                </a:ext>
              </a:extLst>
            </p:cNvPr>
            <p:cNvCxnSpPr>
              <a:cxnSpLocks/>
            </p:cNvCxnSpPr>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48C32FD3-76B0-40E7-89F2-E9C523210AF4}"/>
                </a:ext>
              </a:extLst>
            </p:cNvPr>
            <p:cNvCxnSpPr>
              <a:cxnSpLocks/>
            </p:cNvCxnSpPr>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2E9447-8362-426C-840A-B6F2231F7BCC}"/>
                </a:ext>
              </a:extLst>
            </p:cNvPr>
            <p:cNvCxnSpPr>
              <a:cxnSpLocks/>
            </p:cNvCxnSpPr>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F141DC8-83CE-4C21-A5BA-E2FFF3D866EF}"/>
                </a:ext>
              </a:extLst>
            </p:cNvPr>
            <p:cNvCxnSpPr>
              <a:cxnSpLocks/>
            </p:cNvCxnSpPr>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12A697C-ECBC-40A9-AC69-BF96A34B91AF}"/>
                </a:ext>
              </a:extLst>
            </p:cNvPr>
            <p:cNvCxnSpPr>
              <a:cxnSpLocks/>
            </p:cNvCxnSpPr>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2E988AF-5EFB-43D3-B93F-6E4F41A2C90B}"/>
                </a:ext>
              </a:extLst>
            </p:cNvPr>
            <p:cNvCxnSpPr>
              <a:cxnSpLocks/>
            </p:cNvCxnSpPr>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312C1B-AAE2-4A6D-ACC7-ABAA75D42854}"/>
                </a:ext>
              </a:extLst>
            </p:cNvPr>
            <p:cNvCxnSpPr>
              <a:cxnSpLocks/>
            </p:cNvCxnSpPr>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7B96146-61DA-44D6-A9DF-6DB41FCF2D80}"/>
                </a:ext>
              </a:extLst>
            </p:cNvPr>
            <p:cNvCxnSpPr>
              <a:cxnSpLocks/>
            </p:cNvCxnSpPr>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B33F93D-4439-46EE-97C4-9CECAAFDCF60}"/>
                </a:ext>
              </a:extLst>
            </p:cNvPr>
            <p:cNvCxnSpPr>
              <a:cxnSpLocks/>
            </p:cNvCxnSpPr>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5914B275-A3D7-4BA4-B8CB-E7657100F3AD}"/>
                </a:ext>
              </a:extLst>
            </p:cNvPr>
            <p:cNvCxnSpPr>
              <a:cxnSpLocks/>
            </p:cNvCxnSpPr>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D26EF3B-FBE7-4D57-8E01-553F50734A68}"/>
                </a:ext>
              </a:extLst>
            </p:cNvPr>
            <p:cNvCxnSpPr>
              <a:cxnSpLocks/>
            </p:cNvCxnSpPr>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6CC1E671-BA54-4B31-9A2E-8F50BC57A260}"/>
                </a:ext>
              </a:extLst>
            </p:cNvPr>
            <p:cNvCxnSpPr>
              <a:cxnSpLocks/>
            </p:cNvCxnSpPr>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A836A704-3624-4ABF-9A67-0F52C2F3EFBF}"/>
                </a:ext>
              </a:extLst>
            </p:cNvPr>
            <p:cNvCxnSpPr>
              <a:cxnSpLocks/>
            </p:cNvCxnSpPr>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5FDC385D-BA34-481F-A991-A776E0B19301}"/>
                </a:ext>
              </a:extLst>
            </p:cNvPr>
            <p:cNvCxnSpPr>
              <a:cxnSpLocks/>
            </p:cNvCxnSpPr>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1EF033A-D8FB-416B-AE51-4E098A27D68C}"/>
                </a:ext>
              </a:extLst>
            </p:cNvPr>
            <p:cNvCxnSpPr>
              <a:cxnSpLocks/>
            </p:cNvCxnSpPr>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17C17B48-F458-4E9B-9331-56FCDC5B6AB2}"/>
                </a:ext>
              </a:extLst>
            </p:cNvPr>
            <p:cNvCxnSpPr>
              <a:cxnSpLocks/>
            </p:cNvCxnSpPr>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7E44A4B-D453-46F0-A83D-AF0B33D5C59F}"/>
                </a:ext>
              </a:extLst>
            </p:cNvPr>
            <p:cNvCxnSpPr>
              <a:cxnSpLocks/>
            </p:cNvCxnSpPr>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346BEA9F-314B-440D-AE8D-21E1252EC5A0}"/>
                </a:ext>
              </a:extLst>
            </p:cNvPr>
            <p:cNvCxnSpPr>
              <a:cxnSpLocks/>
            </p:cNvCxnSpPr>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F15EAFD0-4869-4612-ACDE-ABC703104E88}"/>
                </a:ext>
              </a:extLst>
            </p:cNvPr>
            <p:cNvCxnSpPr>
              <a:cxnSpLocks/>
            </p:cNvCxnSpPr>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0F26706-7F23-4FF0-9CAF-F3C4F47C119D}"/>
                </a:ext>
              </a:extLst>
            </p:cNvPr>
            <p:cNvCxnSpPr>
              <a:cxnSpLocks/>
            </p:cNvCxnSpPr>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195A72-345A-4E88-8D71-14DB3D1B607D}"/>
                </a:ext>
              </a:extLst>
            </p:cNvPr>
            <p:cNvCxnSpPr>
              <a:cxnSpLocks/>
            </p:cNvCxnSpPr>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DBF51A6-A3BC-49FE-BB01-E8992811774E}"/>
                </a:ext>
              </a:extLst>
            </p:cNvPr>
            <p:cNvCxnSpPr>
              <a:cxnSpLocks/>
            </p:cNvCxnSpPr>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78DF911-744C-419B-83DC-39F270BBF41F}"/>
                </a:ext>
              </a:extLst>
            </p:cNvPr>
            <p:cNvCxnSpPr>
              <a:cxnSpLocks/>
            </p:cNvCxnSpPr>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49" name="Freeform: Shape 148">
            <a:extLst>
              <a:ext uri="{FF2B5EF4-FFF2-40B4-BE49-F238E27FC236}">
                <a16:creationId xmlns:a16="http://schemas.microsoft.com/office/drawing/2014/main" id="{216BB147-20D5-4D93-BDA5-1BC614D6A4B2}"/>
              </a:ext>
            </a:extLst>
          </p:cNvPr>
          <p:cNvSpPr/>
          <p:nvPr/>
        </p:nvSpPr>
        <p:spPr>
          <a:xfrm>
            <a:off x="-6214" y="5014716"/>
            <a:ext cx="2800124" cy="1843284"/>
          </a:xfrm>
          <a:custGeom>
            <a:avLst/>
            <a:gdLst>
              <a:gd name="connsiteX0" fmla="*/ 375358 w 2800124"/>
              <a:gd name="connsiteY0" fmla="*/ 0 h 1843284"/>
              <a:gd name="connsiteX1" fmla="*/ 2781298 w 2800124"/>
              <a:gd name="connsiteY1" fmla="*/ 1770066 h 1843284"/>
              <a:gd name="connsiteX2" fmla="*/ 2800124 w 2800124"/>
              <a:gd name="connsiteY2" fmla="*/ 1843284 h 1843284"/>
              <a:gd name="connsiteX3" fmla="*/ 1987869 w 2800124"/>
              <a:gd name="connsiteY3" fmla="*/ 1843284 h 1843284"/>
              <a:gd name="connsiteX4" fmla="*/ 1986195 w 2800124"/>
              <a:gd name="connsiteY4" fmla="*/ 1838711 h 1843284"/>
              <a:gd name="connsiteX5" fmla="*/ 375357 w 2800124"/>
              <a:gd name="connsiteY5" fmla="*/ 770976 h 1843284"/>
              <a:gd name="connsiteX6" fmla="*/ 23030 w 2800124"/>
              <a:gd name="connsiteY6" fmla="*/ 806494 h 1843284"/>
              <a:gd name="connsiteX7" fmla="*/ 0 w 2800124"/>
              <a:gd name="connsiteY7" fmla="*/ 812415 h 1843284"/>
              <a:gd name="connsiteX8" fmla="*/ 0 w 2800124"/>
              <a:gd name="connsiteY8" fmla="*/ 30983 h 1843284"/>
              <a:gd name="connsiteX9" fmla="*/ 117785 w 2800124"/>
              <a:gd name="connsiteY9" fmla="*/ 13007 h 1843284"/>
              <a:gd name="connsiteX10" fmla="*/ 375358 w 2800124"/>
              <a:gd name="connsiteY10" fmla="*/ 0 h 1843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0124" h="1843284">
                <a:moveTo>
                  <a:pt x="375358" y="0"/>
                </a:moveTo>
                <a:cubicBezTo>
                  <a:pt x="1505802" y="0"/>
                  <a:pt x="2462339" y="744579"/>
                  <a:pt x="2781298" y="1770066"/>
                </a:cubicBezTo>
                <a:lnTo>
                  <a:pt x="2800124" y="1843284"/>
                </a:lnTo>
                <a:lnTo>
                  <a:pt x="1987869" y="1843284"/>
                </a:lnTo>
                <a:lnTo>
                  <a:pt x="1986195" y="1838711"/>
                </a:lnTo>
                <a:cubicBezTo>
                  <a:pt x="1720801" y="1211248"/>
                  <a:pt x="1099494" y="770976"/>
                  <a:pt x="375357" y="770976"/>
                </a:cubicBezTo>
                <a:cubicBezTo>
                  <a:pt x="254668" y="770976"/>
                  <a:pt x="136835" y="783206"/>
                  <a:pt x="23030" y="806494"/>
                </a:cubicBezTo>
                <a:lnTo>
                  <a:pt x="0" y="812415"/>
                </a:lnTo>
                <a:lnTo>
                  <a:pt x="0" y="30983"/>
                </a:lnTo>
                <a:lnTo>
                  <a:pt x="117785" y="13007"/>
                </a:lnTo>
                <a:cubicBezTo>
                  <a:pt x="202473" y="4406"/>
                  <a:pt x="288401" y="0"/>
                  <a:pt x="375358" y="0"/>
                </a:cubicBezTo>
                <a:close/>
              </a:path>
            </a:pathLst>
          </a:custGeom>
          <a:solidFill>
            <a:schemeClr val="accent5">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457200" y="365125"/>
            <a:ext cx="1072293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457200" y="1825625"/>
            <a:ext cx="107229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457200" y="6324600"/>
            <a:ext cx="2560220" cy="365125"/>
          </a:xfrm>
          <a:prstGeom prst="rect">
            <a:avLst/>
          </a:prstGeom>
        </p:spPr>
        <p:txBody>
          <a:bodyPr vert="horz" lIns="91440" tIns="45720" rIns="91440" bIns="45720" rtlCol="0" anchor="ctr"/>
          <a:lstStyle>
            <a:lvl1pPr algn="l">
              <a:defRPr sz="900" cap="all" spc="150" baseline="0">
                <a:solidFill>
                  <a:srgbClr val="FFFFFF"/>
                </a:solidFill>
              </a:defRPr>
            </a:lvl1pPr>
          </a:lstStyle>
          <a:p>
            <a:fld id="{193BAB95-8DA7-460B-B00A-7037C8394FB0}" type="datetime1">
              <a:rPr lang="en-US" smtClean="0"/>
              <a:pPr/>
              <a:t>9/17/2025</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200861" y="6319838"/>
            <a:ext cx="3982781"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t>Sample Footer Text</a:t>
            </a:r>
            <a:endParaRPr lang="en-US" dirty="0">
              <a:solidFill>
                <a:srgbClr val="FFFFFF"/>
              </a:solidFill>
            </a:endParaRP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11190806" y="6324600"/>
            <a:ext cx="799078" cy="365125"/>
          </a:xfrm>
          <a:prstGeom prst="rect">
            <a:avLst/>
          </a:prstGeom>
        </p:spPr>
        <p:txBody>
          <a:bodyPr vert="horz" lIns="91440" tIns="45720" rIns="91440" bIns="45720" rtlCol="0" anchor="ctr"/>
          <a:lstStyle>
            <a:lvl1pPr algn="ctr">
              <a:defRPr sz="900" cap="all" spc="150" baseline="0">
                <a:solidFill>
                  <a:srgbClr val="FFFFFF"/>
                </a:solidFill>
              </a:defRPr>
            </a:lvl1pPr>
          </a:lstStyle>
          <a:p>
            <a:fld id="{11A71338-8BA2-4C79-A6C5-5A8E30081D0C}" type="slidenum">
              <a:rPr lang="en-US" smtClean="0"/>
              <a:pPr/>
              <a:t>‹#›</a:t>
            </a:fld>
            <a:endParaRPr lang="en-US" dirty="0"/>
          </a:p>
        </p:txBody>
      </p:sp>
      <p:sp>
        <p:nvSpPr>
          <p:cNvPr id="77" name="Freeform: Shape 76">
            <a:extLst>
              <a:ext uri="{FF2B5EF4-FFF2-40B4-BE49-F238E27FC236}">
                <a16:creationId xmlns:a16="http://schemas.microsoft.com/office/drawing/2014/main" id="{0A253F60-DE40-4508-A37A-61331DF1DD5D}"/>
              </a:ext>
            </a:extLst>
          </p:cNvPr>
          <p:cNvSpPr/>
          <p:nvPr/>
        </p:nvSpPr>
        <p:spPr>
          <a:xfrm>
            <a:off x="7979728" y="0"/>
            <a:ext cx="4209224" cy="1650549"/>
          </a:xfrm>
          <a:custGeom>
            <a:avLst/>
            <a:gdLst>
              <a:gd name="connsiteX0" fmla="*/ 0 w 4209224"/>
              <a:gd name="connsiteY0" fmla="*/ 0 h 1650549"/>
              <a:gd name="connsiteX1" fmla="*/ 846445 w 4209224"/>
              <a:gd name="connsiteY1" fmla="*/ 0 h 1650549"/>
              <a:gd name="connsiteX2" fmla="*/ 912542 w 4209224"/>
              <a:gd name="connsiteY2" fmla="*/ 108799 h 1650549"/>
              <a:gd name="connsiteX3" fmla="*/ 2362195 w 4209224"/>
              <a:gd name="connsiteY3" fmla="*/ 879573 h 1650549"/>
              <a:gd name="connsiteX4" fmla="*/ 3811848 w 4209224"/>
              <a:gd name="connsiteY4" fmla="*/ 108799 h 1650549"/>
              <a:gd name="connsiteX5" fmla="*/ 3877945 w 4209224"/>
              <a:gd name="connsiteY5" fmla="*/ 0 h 1650549"/>
              <a:gd name="connsiteX6" fmla="*/ 4209224 w 4209224"/>
              <a:gd name="connsiteY6" fmla="*/ 0 h 1650549"/>
              <a:gd name="connsiteX7" fmla="*/ 4209224 w 4209224"/>
              <a:gd name="connsiteY7" fmla="*/ 840421 h 1650549"/>
              <a:gd name="connsiteX8" fmla="*/ 4143538 w 4209224"/>
              <a:gd name="connsiteY8" fmla="*/ 912693 h 1650549"/>
              <a:gd name="connsiteX9" fmla="*/ 2362196 w 4209224"/>
              <a:gd name="connsiteY9" fmla="*/ 1650549 h 1650549"/>
              <a:gd name="connsiteX10" fmla="*/ 40969 w 4209224"/>
              <a:gd name="connsiteY10" fmla="*/ 111937 h 165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09224" h="1650549">
                <a:moveTo>
                  <a:pt x="0" y="0"/>
                </a:moveTo>
                <a:lnTo>
                  <a:pt x="846445" y="0"/>
                </a:lnTo>
                <a:lnTo>
                  <a:pt x="912542" y="108799"/>
                </a:lnTo>
                <a:cubicBezTo>
                  <a:pt x="1226710" y="573829"/>
                  <a:pt x="1758748" y="879573"/>
                  <a:pt x="2362195" y="879573"/>
                </a:cubicBezTo>
                <a:cubicBezTo>
                  <a:pt x="2965642" y="879573"/>
                  <a:pt x="3497680" y="573829"/>
                  <a:pt x="3811848" y="108799"/>
                </a:cubicBezTo>
                <a:lnTo>
                  <a:pt x="3877945" y="0"/>
                </a:lnTo>
                <a:lnTo>
                  <a:pt x="4209224" y="0"/>
                </a:lnTo>
                <a:lnTo>
                  <a:pt x="4209224" y="840421"/>
                </a:lnTo>
                <a:lnTo>
                  <a:pt x="4143538" y="912693"/>
                </a:lnTo>
                <a:cubicBezTo>
                  <a:pt x="3687653" y="1368578"/>
                  <a:pt x="3057854" y="1650549"/>
                  <a:pt x="2362196" y="1650549"/>
                </a:cubicBezTo>
                <a:cubicBezTo>
                  <a:pt x="1318710" y="1650549"/>
                  <a:pt x="423404" y="1016115"/>
                  <a:pt x="40969" y="111937"/>
                </a:cubicBezTo>
                <a:close/>
              </a:path>
            </a:pathLst>
          </a:custGeom>
          <a:solidFill>
            <a:schemeClr val="accent5">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endParaRPr>
          </a:p>
        </p:txBody>
      </p:sp>
    </p:spTree>
    <p:extLst>
      <p:ext uri="{BB962C8B-B14F-4D97-AF65-F5344CB8AC3E}">
        <p14:creationId xmlns:p14="http://schemas.microsoft.com/office/powerpoint/2010/main" val="12668473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hf sldNum="0" hdr="0" ftr="0" dt="0"/>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bg1"/>
        </a:buClr>
        <a:buSzPct val="75000"/>
        <a:buFont typeface="Arial" panose="020B0604020202020204" pitchFamily="34" charset="0"/>
        <a:buChar char="•"/>
        <a:defRPr sz="2800" kern="1200">
          <a:solidFill>
            <a:srgbClr val="FFFFFF"/>
          </a:solidFill>
          <a:latin typeface="+mn-lt"/>
          <a:ea typeface="+mn-ea"/>
          <a:cs typeface="+mn-cs"/>
        </a:defRPr>
      </a:lvl1pPr>
      <a:lvl2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400" kern="1200">
          <a:solidFill>
            <a:srgbClr val="FFFFFF"/>
          </a:solidFill>
          <a:latin typeface="+mn-lt"/>
          <a:ea typeface="+mn-ea"/>
          <a:cs typeface="+mn-cs"/>
        </a:defRPr>
      </a:lvl2pPr>
      <a:lvl3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2000" kern="1200">
          <a:solidFill>
            <a:srgbClr val="FFFFFF"/>
          </a:solidFill>
          <a:latin typeface="+mn-lt"/>
          <a:ea typeface="+mn-ea"/>
          <a:cs typeface="+mn-cs"/>
        </a:defRPr>
      </a:lvl3pPr>
      <a:lvl4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4pPr>
      <a:lvl5pPr marL="228600" indent="-228600" algn="l" defTabSz="914400" rtl="0" eaLnBrk="1" latinLnBrk="0" hangingPunct="1">
        <a:lnSpc>
          <a:spcPct val="110000"/>
        </a:lnSpc>
        <a:spcBef>
          <a:spcPts val="500"/>
        </a:spcBef>
        <a:buClr>
          <a:schemeClr val="bg1"/>
        </a:buClr>
        <a:buSzPct val="75000"/>
        <a:buFont typeface="Arial" panose="020B0604020202020204" pitchFamily="34" charset="0"/>
        <a:buChar char="•"/>
        <a:defRPr sz="1800" kern="1200">
          <a:solidFill>
            <a:srgbClr val="FFFFF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mailto:smith.deron@epa.gov?subject=UGA%20Project%20-%20Source%20Apportionment" TargetMode="Externa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6285CA-6AFA-4F27-AFB5-1B32CDE09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Rectangle 10">
            <a:extLst>
              <a:ext uri="{FF2B5EF4-FFF2-40B4-BE49-F238E27FC236}">
                <a16:creationId xmlns:a16="http://schemas.microsoft.com/office/drawing/2014/main" id="{AF152BFE-7BA8-4007-AD9C-F4DC95E437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Freeform: Shape 12">
            <a:extLst>
              <a:ext uri="{FF2B5EF4-FFF2-40B4-BE49-F238E27FC236}">
                <a16:creationId xmlns:a16="http://schemas.microsoft.com/office/drawing/2014/main" id="{26796024-DF17-4BB3-BF28-01E168A3C5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661" y="63892"/>
            <a:ext cx="2222198" cy="2133710"/>
          </a:xfrm>
          <a:custGeom>
            <a:avLst/>
            <a:gdLst>
              <a:gd name="connsiteX0" fmla="*/ 0 w 2222198"/>
              <a:gd name="connsiteY0" fmla="*/ 0 h 2133710"/>
              <a:gd name="connsiteX1" fmla="*/ 44227 w 2222198"/>
              <a:gd name="connsiteY1" fmla="*/ 2234 h 2133710"/>
              <a:gd name="connsiteX2" fmla="*/ 2193454 w 2222198"/>
              <a:gd name="connsiteY2" fmla="*/ 1945372 h 2133710"/>
              <a:gd name="connsiteX3" fmla="*/ 2222198 w 2222198"/>
              <a:gd name="connsiteY3" fmla="*/ 2133710 h 2133710"/>
              <a:gd name="connsiteX4" fmla="*/ 1394653 w 2222198"/>
              <a:gd name="connsiteY4" fmla="*/ 2133710 h 2133710"/>
              <a:gd name="connsiteX5" fmla="*/ 1391100 w 2222198"/>
              <a:gd name="connsiteY5" fmla="*/ 2110427 h 2133710"/>
              <a:gd name="connsiteX6" fmla="*/ 122376 w 2222198"/>
              <a:gd name="connsiteY6" fmla="*/ 841704 h 2133710"/>
              <a:gd name="connsiteX7" fmla="*/ 0 w 2222198"/>
              <a:gd name="connsiteY7" fmla="*/ 823027 h 2133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22198" h="2133710">
                <a:moveTo>
                  <a:pt x="0" y="0"/>
                </a:moveTo>
                <a:lnTo>
                  <a:pt x="44227" y="2234"/>
                </a:lnTo>
                <a:cubicBezTo>
                  <a:pt x="1114682" y="110944"/>
                  <a:pt x="1981368" y="908934"/>
                  <a:pt x="2193454" y="1945372"/>
                </a:cubicBezTo>
                <a:lnTo>
                  <a:pt x="2222198" y="2133710"/>
                </a:lnTo>
                <a:lnTo>
                  <a:pt x="1394653" y="2133710"/>
                </a:lnTo>
                <a:lnTo>
                  <a:pt x="1391100" y="2110427"/>
                </a:lnTo>
                <a:cubicBezTo>
                  <a:pt x="1260786" y="1473602"/>
                  <a:pt x="759202" y="972017"/>
                  <a:pt x="122376" y="841704"/>
                </a:cubicBezTo>
                <a:lnTo>
                  <a:pt x="0" y="823027"/>
                </a:lnTo>
                <a:close/>
              </a:path>
            </a:pathLst>
          </a:custGeom>
          <a:solidFill>
            <a:schemeClr val="accent1">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Right Triangle 14">
            <a:extLst>
              <a:ext uri="{FF2B5EF4-FFF2-40B4-BE49-F238E27FC236}">
                <a16:creationId xmlns:a16="http://schemas.microsoft.com/office/drawing/2014/main" id="{7BCC6446-8462-4A63-9B6F-8F57EC4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65271" y="2673521"/>
            <a:ext cx="568289" cy="568289"/>
          </a:xfrm>
          <a:prstGeom prst="rtTriangle">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8118ECEF-CA6A-4CB6-BCA5-59B2DB40C4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8" name="Straight Connector 17">
              <a:extLst>
                <a:ext uri="{FF2B5EF4-FFF2-40B4-BE49-F238E27FC236}">
                  <a16:creationId xmlns:a16="http://schemas.microsoft.com/office/drawing/2014/main" id="{CDC2A251-C28C-4A72-BAFF-511640FB2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DDB2429-3E01-4CD5-998D-8F5716A098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E26953B-4BE7-4AD0-B471-088DBB23D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D9ED6D-9817-4272-9FEF-E674FBCCCC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718C0DE-4596-4A70-AA4F-E678AC7FBC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B48095-74C2-4053-872D-D3F70910C3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24D0B6-A4CB-4D98-A1DC-2770B95F9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B39DE9C-23C1-4ABA-BD0D-B76BDC9630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9DDAAE0-966C-4350-8819-857CF524F3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EE6C021-FBD3-42F3-9A9C-69C4E71989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02961B9-65E1-4B12-AD98-9845BC3F43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22ABFE0-D700-4FD9-9CC8-D138B29ABF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FFF1A3-B8BF-470C-9436-D5B781853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98B6551-FF5D-49F5-8D3E-757AEC357A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F3BFE5-573C-42C0-94D5-E5513CCC57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57931AB-4B07-4E0E-B3E4-84E2452E0A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4789DB-7083-4597-9FC7-6336EA0BE3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E0B4F1D-D11A-4023-BE6B-6679ABB2B4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8633D7A-F6FC-418F-AD87-0EE148C1A0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FC8FCC-6F69-4802-995C-903AE44162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6ABFCE7-4796-4186-8EDC-DB6CE87BC7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1935BF2-A804-46BA-940A-DDAD7888F3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D012DA9-8D67-483A-8071-2903F2E3B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09163DC-956E-44BE-B55A-E6C2C851DD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6CDE9FD-1880-483F-A039-BEB3AB0D37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8DDB23B-71E7-42A3-B055-5740EE14C5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7245B63-D771-461D-A625-4B49966D24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F1DF9FF-1F61-4B4F-8993-6897DE09C9C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092F139-6734-46F3-B176-11741F1F73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6168A66-8470-8E9D-8572-A914F615C98A}"/>
              </a:ext>
            </a:extLst>
          </p:cNvPr>
          <p:cNvSpPr>
            <a:spLocks noGrp="1"/>
          </p:cNvSpPr>
          <p:nvPr>
            <p:ph type="ctrTitle"/>
          </p:nvPr>
        </p:nvSpPr>
        <p:spPr>
          <a:xfrm>
            <a:off x="453142" y="725467"/>
            <a:ext cx="5414255" cy="2784496"/>
          </a:xfrm>
        </p:spPr>
        <p:txBody>
          <a:bodyPr anchor="t">
            <a:normAutofit/>
          </a:bodyPr>
          <a:lstStyle/>
          <a:p>
            <a:r>
              <a:rPr lang="en-US" sz="3600" dirty="0">
                <a:solidFill>
                  <a:schemeClr val="tx2">
                    <a:alpha val="80000"/>
                  </a:schemeClr>
                </a:solidFill>
              </a:rPr>
              <a:t>Deron Smith</a:t>
            </a:r>
            <a:br>
              <a:rPr lang="en-US" sz="3600" dirty="0">
                <a:solidFill>
                  <a:schemeClr val="tx2">
                    <a:alpha val="80000"/>
                  </a:schemeClr>
                </a:solidFill>
              </a:rPr>
            </a:br>
            <a:r>
              <a:rPr lang="en-US" sz="3600" dirty="0">
                <a:solidFill>
                  <a:schemeClr val="tx2">
                    <a:alpha val="80000"/>
                  </a:schemeClr>
                </a:solidFill>
              </a:rPr>
              <a:t>Computer Scientist</a:t>
            </a:r>
            <a:br>
              <a:rPr lang="en-US" sz="3600" dirty="0">
                <a:solidFill>
                  <a:schemeClr val="tx2">
                    <a:alpha val="80000"/>
                  </a:schemeClr>
                </a:solidFill>
              </a:rPr>
            </a:br>
            <a:br>
              <a:rPr lang="en-US" sz="3600" dirty="0">
                <a:solidFill>
                  <a:schemeClr val="tx2">
                    <a:alpha val="80000"/>
                  </a:schemeClr>
                </a:solidFill>
              </a:rPr>
            </a:br>
            <a:r>
              <a:rPr lang="en-US" sz="3600" dirty="0">
                <a:solidFill>
                  <a:schemeClr val="tx2">
                    <a:alpha val="80000"/>
                  </a:schemeClr>
                </a:solidFill>
              </a:rPr>
              <a:t>US Environmental Protection Agency</a:t>
            </a:r>
          </a:p>
        </p:txBody>
      </p:sp>
      <p:sp>
        <p:nvSpPr>
          <p:cNvPr id="3" name="Subtitle 2">
            <a:extLst>
              <a:ext uri="{FF2B5EF4-FFF2-40B4-BE49-F238E27FC236}">
                <a16:creationId xmlns:a16="http://schemas.microsoft.com/office/drawing/2014/main" id="{20F4E013-F71F-AEB0-5DD1-B2A418E96F44}"/>
              </a:ext>
            </a:extLst>
          </p:cNvPr>
          <p:cNvSpPr>
            <a:spLocks noGrp="1"/>
          </p:cNvSpPr>
          <p:nvPr>
            <p:ph type="subTitle" idx="1"/>
          </p:nvPr>
        </p:nvSpPr>
        <p:spPr>
          <a:xfrm>
            <a:off x="453142" y="3602038"/>
            <a:ext cx="5414255" cy="1560594"/>
          </a:xfrm>
        </p:spPr>
        <p:txBody>
          <a:bodyPr>
            <a:normAutofit fontScale="85000" lnSpcReduction="10000"/>
          </a:bodyPr>
          <a:lstStyle/>
          <a:p>
            <a:r>
              <a:rPr lang="en-US" b="1" u="sng" dirty="0">
                <a:solidFill>
                  <a:schemeClr val="tx2">
                    <a:alpha val="80000"/>
                  </a:schemeClr>
                </a:solidFill>
              </a:rPr>
              <a:t>Research Focus</a:t>
            </a:r>
          </a:p>
          <a:p>
            <a:r>
              <a:rPr lang="en-US" sz="2000" dirty="0">
                <a:solidFill>
                  <a:schemeClr val="tx2">
                    <a:alpha val="80000"/>
                  </a:schemeClr>
                </a:solidFill>
              </a:rPr>
              <a:t>Data Analytics and Machine Learning</a:t>
            </a:r>
          </a:p>
          <a:p>
            <a:r>
              <a:rPr lang="en-US" sz="2000" dirty="0">
                <a:solidFill>
                  <a:schemeClr val="tx2">
                    <a:alpha val="80000"/>
                  </a:schemeClr>
                </a:solidFill>
              </a:rPr>
              <a:t>Numerical Modeling and Optimization Problems</a:t>
            </a:r>
          </a:p>
          <a:p>
            <a:r>
              <a:rPr lang="en-US" sz="2000" dirty="0">
                <a:solidFill>
                  <a:schemeClr val="tx2">
                    <a:alpha val="80000"/>
                  </a:schemeClr>
                </a:solidFill>
              </a:rPr>
              <a:t>Full-Stack Software Development</a:t>
            </a:r>
          </a:p>
        </p:txBody>
      </p:sp>
      <p:pic>
        <p:nvPicPr>
          <p:cNvPr id="4" name="Picture 3" descr="An abstract genetic concept">
            <a:extLst>
              <a:ext uri="{FF2B5EF4-FFF2-40B4-BE49-F238E27FC236}">
                <a16:creationId xmlns:a16="http://schemas.microsoft.com/office/drawing/2014/main" id="{C84D77C5-CFAB-EE66-D482-7B104631A1E7}"/>
              </a:ext>
            </a:extLst>
          </p:cNvPr>
          <p:cNvPicPr>
            <a:picLocks noChangeAspect="1"/>
          </p:cNvPicPr>
          <p:nvPr/>
        </p:nvPicPr>
        <p:blipFill>
          <a:blip r:embed="rId2"/>
          <a:srcRect l="8658" r="3668" b="2"/>
          <a:stretch>
            <a:fillRect/>
          </a:stretch>
        </p:blipFill>
        <p:spPr>
          <a:xfrm>
            <a:off x="6189156" y="-3440"/>
            <a:ext cx="6015813" cy="6861439"/>
          </a:xfrm>
          <a:prstGeom prst="rect">
            <a:avLst/>
          </a:prstGeom>
        </p:spPr>
      </p:pic>
    </p:spTree>
    <p:extLst>
      <p:ext uri="{BB962C8B-B14F-4D97-AF65-F5344CB8AC3E}">
        <p14:creationId xmlns:p14="http://schemas.microsoft.com/office/powerpoint/2010/main" val="1594947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Rectangle 9">
            <a:extLst>
              <a:ext uri="{FF2B5EF4-FFF2-40B4-BE49-F238E27FC236}">
                <a16:creationId xmlns:a16="http://schemas.microsoft.com/office/drawing/2014/main" id="{43517DAF-BA0B-48C9-8544-2D295C68F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Right Triangle 11">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22269" y="-284218"/>
            <a:ext cx="568289" cy="568289"/>
          </a:xfrm>
          <a:prstGeom prst="r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20AB72C-20FB-424A-B116-9771F33F0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44" y="4062405"/>
            <a:ext cx="3509907" cy="2795595"/>
          </a:xfrm>
          <a:custGeom>
            <a:avLst/>
            <a:gdLst>
              <a:gd name="connsiteX0" fmla="*/ 1060477 w 3509907"/>
              <a:gd name="connsiteY0" fmla="*/ 0 h 2795595"/>
              <a:gd name="connsiteX1" fmla="*/ 3509907 w 3509907"/>
              <a:gd name="connsiteY1" fmla="*/ 2449430 h 2795595"/>
              <a:gd name="connsiteX2" fmla="*/ 3497261 w 3509907"/>
              <a:gd name="connsiteY2" fmla="*/ 2699870 h 2795595"/>
              <a:gd name="connsiteX3" fmla="*/ 3482652 w 3509907"/>
              <a:gd name="connsiteY3" fmla="*/ 2795595 h 2795595"/>
              <a:gd name="connsiteX4" fmla="*/ 2653271 w 3509907"/>
              <a:gd name="connsiteY4" fmla="*/ 2795595 h 2795595"/>
              <a:gd name="connsiteX5" fmla="*/ 2657790 w 3509907"/>
              <a:gd name="connsiteY5" fmla="*/ 2778020 h 2795595"/>
              <a:gd name="connsiteX6" fmla="*/ 2690914 w 3509907"/>
              <a:gd name="connsiteY6" fmla="*/ 2449430 h 2795595"/>
              <a:gd name="connsiteX7" fmla="*/ 1060476 w 3509907"/>
              <a:gd name="connsiteY7" fmla="*/ 818992 h 2795595"/>
              <a:gd name="connsiteX8" fmla="*/ 23366 w 3509907"/>
              <a:gd name="connsiteY8" fmla="*/ 1191305 h 2795595"/>
              <a:gd name="connsiteX9" fmla="*/ 0 w 3509907"/>
              <a:gd name="connsiteY9" fmla="*/ 1212542 h 2795595"/>
              <a:gd name="connsiteX10" fmla="*/ 0 w 3509907"/>
              <a:gd name="connsiteY10" fmla="*/ 244056 h 2795595"/>
              <a:gd name="connsiteX11" fmla="*/ 107048 w 3509907"/>
              <a:gd name="connsiteY11" fmla="*/ 192489 h 2795595"/>
              <a:gd name="connsiteX12" fmla="*/ 1060477 w 3509907"/>
              <a:gd name="connsiteY12" fmla="*/ 0 h 279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09907" h="2795595">
                <a:moveTo>
                  <a:pt x="1060477" y="0"/>
                </a:moveTo>
                <a:cubicBezTo>
                  <a:pt x="2413260" y="0"/>
                  <a:pt x="3509907" y="1096647"/>
                  <a:pt x="3509907" y="2449430"/>
                </a:cubicBezTo>
                <a:cubicBezTo>
                  <a:pt x="3509907" y="2533979"/>
                  <a:pt x="3505624" y="2617528"/>
                  <a:pt x="3497261" y="2699870"/>
                </a:cubicBezTo>
                <a:lnTo>
                  <a:pt x="3482652" y="2795595"/>
                </a:lnTo>
                <a:lnTo>
                  <a:pt x="2653271" y="2795595"/>
                </a:lnTo>
                <a:lnTo>
                  <a:pt x="2657790" y="2778020"/>
                </a:lnTo>
                <a:cubicBezTo>
                  <a:pt x="2679509" y="2671883"/>
                  <a:pt x="2690914" y="2561988"/>
                  <a:pt x="2690914" y="2449430"/>
                </a:cubicBezTo>
                <a:cubicBezTo>
                  <a:pt x="2690914" y="1548964"/>
                  <a:pt x="1960942" y="818992"/>
                  <a:pt x="1060476" y="818992"/>
                </a:cubicBezTo>
                <a:cubicBezTo>
                  <a:pt x="666522" y="818992"/>
                  <a:pt x="305202" y="958713"/>
                  <a:pt x="23366" y="1191305"/>
                </a:cubicBezTo>
                <a:lnTo>
                  <a:pt x="0" y="1212542"/>
                </a:lnTo>
                <a:lnTo>
                  <a:pt x="0" y="244056"/>
                </a:lnTo>
                <a:lnTo>
                  <a:pt x="107048" y="192489"/>
                </a:lnTo>
                <a:cubicBezTo>
                  <a:pt x="400094" y="68541"/>
                  <a:pt x="722282" y="0"/>
                  <a:pt x="1060477" y="0"/>
                </a:cubicBezTo>
                <a:close/>
              </a:path>
            </a:pathLst>
          </a:cu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9E38EE1F-4E4B-4F57-B909-C42294E31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90211" y="5571906"/>
            <a:ext cx="4039677" cy="1269438"/>
          </a:xfrm>
          <a:custGeom>
            <a:avLst/>
            <a:gdLst>
              <a:gd name="connsiteX0" fmla="*/ 2019838 w 4039677"/>
              <a:gd name="connsiteY0" fmla="*/ 0 h 1269438"/>
              <a:gd name="connsiteX1" fmla="*/ 3994238 w 4039677"/>
              <a:gd name="connsiteY1" fmla="*/ 1175114 h 1269438"/>
              <a:gd name="connsiteX2" fmla="*/ 4039677 w 4039677"/>
              <a:gd name="connsiteY2" fmla="*/ 1269438 h 1269438"/>
              <a:gd name="connsiteX3" fmla="*/ 3004689 w 4039677"/>
              <a:gd name="connsiteY3" fmla="*/ 1269438 h 1269438"/>
              <a:gd name="connsiteX4" fmla="*/ 3000461 w 4039677"/>
              <a:gd name="connsiteY4" fmla="*/ 1264787 h 1269438"/>
              <a:gd name="connsiteX5" fmla="*/ 2019838 w 4039677"/>
              <a:gd name="connsiteY5" fmla="*/ 858599 h 1269438"/>
              <a:gd name="connsiteX6" fmla="*/ 1039216 w 4039677"/>
              <a:gd name="connsiteY6" fmla="*/ 1264787 h 1269438"/>
              <a:gd name="connsiteX7" fmla="*/ 1034988 w 4039677"/>
              <a:gd name="connsiteY7" fmla="*/ 1269438 h 1269438"/>
              <a:gd name="connsiteX8" fmla="*/ 0 w 4039677"/>
              <a:gd name="connsiteY8" fmla="*/ 1269438 h 1269438"/>
              <a:gd name="connsiteX9" fmla="*/ 45438 w 4039677"/>
              <a:gd name="connsiteY9" fmla="*/ 1175114 h 1269438"/>
              <a:gd name="connsiteX10" fmla="*/ 2019838 w 4039677"/>
              <a:gd name="connsiteY10" fmla="*/ 0 h 126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39677" h="1269438">
                <a:moveTo>
                  <a:pt x="2019838" y="0"/>
                </a:moveTo>
                <a:cubicBezTo>
                  <a:pt x="2872410" y="0"/>
                  <a:pt x="3614002" y="475164"/>
                  <a:pt x="3994238" y="1175114"/>
                </a:cubicBezTo>
                <a:lnTo>
                  <a:pt x="4039677" y="1269438"/>
                </a:lnTo>
                <a:lnTo>
                  <a:pt x="3004689" y="1269438"/>
                </a:lnTo>
                <a:lnTo>
                  <a:pt x="3000461" y="1264787"/>
                </a:lnTo>
                <a:cubicBezTo>
                  <a:pt x="2749498" y="1013823"/>
                  <a:pt x="2402795" y="858599"/>
                  <a:pt x="2019838" y="858599"/>
                </a:cubicBezTo>
                <a:cubicBezTo>
                  <a:pt x="1636881" y="858599"/>
                  <a:pt x="1290179" y="1013823"/>
                  <a:pt x="1039216" y="1264787"/>
                </a:cubicBezTo>
                <a:lnTo>
                  <a:pt x="1034988" y="1269438"/>
                </a:lnTo>
                <a:lnTo>
                  <a:pt x="0" y="1269438"/>
                </a:lnTo>
                <a:lnTo>
                  <a:pt x="45438" y="1175114"/>
                </a:lnTo>
                <a:cubicBezTo>
                  <a:pt x="425674" y="475164"/>
                  <a:pt x="1167266" y="0"/>
                  <a:pt x="2019838" y="0"/>
                </a:cubicBezTo>
                <a:close/>
              </a:path>
            </a:pathLst>
          </a:custGeom>
          <a:solidFill>
            <a:schemeClr val="accent3">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8" name="Group 17">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9" name="Straight Connector 18">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EBB41B8-C432-AEDD-EF0D-CB4291491A08}"/>
              </a:ext>
            </a:extLst>
          </p:cNvPr>
          <p:cNvSpPr>
            <a:spLocks noGrp="1"/>
          </p:cNvSpPr>
          <p:nvPr>
            <p:ph type="title"/>
          </p:nvPr>
        </p:nvSpPr>
        <p:spPr>
          <a:xfrm>
            <a:off x="457201" y="728906"/>
            <a:ext cx="4712534" cy="2823325"/>
          </a:xfrm>
        </p:spPr>
        <p:txBody>
          <a:bodyPr anchor="t">
            <a:normAutofit/>
          </a:bodyPr>
          <a:lstStyle/>
          <a:p>
            <a:pPr algn="ctr"/>
            <a:r>
              <a:rPr lang="en-US" sz="3600" dirty="0">
                <a:solidFill>
                  <a:schemeClr val="tx2"/>
                </a:solidFill>
              </a:rPr>
              <a:t>Project: Source Apportionment</a:t>
            </a:r>
          </a:p>
        </p:txBody>
      </p:sp>
      <p:sp>
        <p:nvSpPr>
          <p:cNvPr id="3" name="Content Placeholder 2">
            <a:extLst>
              <a:ext uri="{FF2B5EF4-FFF2-40B4-BE49-F238E27FC236}">
                <a16:creationId xmlns:a16="http://schemas.microsoft.com/office/drawing/2014/main" id="{27EE8DEF-F769-D07F-AA08-D8F99E16C71C}"/>
              </a:ext>
            </a:extLst>
          </p:cNvPr>
          <p:cNvSpPr>
            <a:spLocks noGrp="1"/>
          </p:cNvSpPr>
          <p:nvPr>
            <p:ph idx="1"/>
          </p:nvPr>
        </p:nvSpPr>
        <p:spPr>
          <a:xfrm>
            <a:off x="5388459" y="728906"/>
            <a:ext cx="5813687" cy="2838357"/>
          </a:xfrm>
        </p:spPr>
        <p:txBody>
          <a:bodyPr anchor="t">
            <a:normAutofit/>
          </a:bodyPr>
          <a:lstStyle/>
          <a:p>
            <a:pPr marL="0" indent="0" algn="just">
              <a:buNone/>
            </a:pP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Environmental sampling and sensor data measurements are often the product of many different unknown sources. Source apportionment is the process of statistically estimating the relative contributions from a set of sources to the observed sample data. </a:t>
            </a:r>
          </a:p>
        </p:txBody>
      </p:sp>
      <p:pic>
        <p:nvPicPr>
          <p:cNvPr id="9" name="Picture 8">
            <a:extLst>
              <a:ext uri="{FF2B5EF4-FFF2-40B4-BE49-F238E27FC236}">
                <a16:creationId xmlns:a16="http://schemas.microsoft.com/office/drawing/2014/main" id="{8D33FF10-C3FF-D198-041D-B0A3218106D4}"/>
              </a:ext>
            </a:extLst>
          </p:cNvPr>
          <p:cNvPicPr>
            <a:picLocks noChangeAspect="1"/>
          </p:cNvPicPr>
          <p:nvPr/>
        </p:nvPicPr>
        <p:blipFill>
          <a:blip r:embed="rId2"/>
          <a:stretch>
            <a:fillRect/>
          </a:stretch>
        </p:blipFill>
        <p:spPr>
          <a:xfrm>
            <a:off x="1612338" y="2828446"/>
            <a:ext cx="8964276" cy="352474"/>
          </a:xfrm>
          <a:prstGeom prst="rect">
            <a:avLst/>
          </a:prstGeom>
        </p:spPr>
      </p:pic>
      <p:sp>
        <p:nvSpPr>
          <p:cNvPr id="11" name="Oval 10">
            <a:extLst>
              <a:ext uri="{FF2B5EF4-FFF2-40B4-BE49-F238E27FC236}">
                <a16:creationId xmlns:a16="http://schemas.microsoft.com/office/drawing/2014/main" id="{BE891FC8-FD0C-7F23-816C-D5457A76FF79}"/>
              </a:ext>
            </a:extLst>
          </p:cNvPr>
          <p:cNvSpPr/>
          <p:nvPr/>
        </p:nvSpPr>
        <p:spPr>
          <a:xfrm>
            <a:off x="877486" y="4094788"/>
            <a:ext cx="2599236" cy="9004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Oil Refinery</a:t>
            </a:r>
          </a:p>
        </p:txBody>
      </p:sp>
      <p:sp>
        <p:nvSpPr>
          <p:cNvPr id="15" name="Oval 14">
            <a:extLst>
              <a:ext uri="{FF2B5EF4-FFF2-40B4-BE49-F238E27FC236}">
                <a16:creationId xmlns:a16="http://schemas.microsoft.com/office/drawing/2014/main" id="{C7F9B86C-9A6C-4B01-15F3-B675AA52432E}"/>
              </a:ext>
            </a:extLst>
          </p:cNvPr>
          <p:cNvSpPr/>
          <p:nvPr/>
        </p:nvSpPr>
        <p:spPr>
          <a:xfrm>
            <a:off x="2855847" y="4856436"/>
            <a:ext cx="2599236" cy="900430"/>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Deisel Exhaust</a:t>
            </a:r>
          </a:p>
        </p:txBody>
      </p:sp>
      <p:sp>
        <p:nvSpPr>
          <p:cNvPr id="17" name="Oval 16">
            <a:extLst>
              <a:ext uri="{FF2B5EF4-FFF2-40B4-BE49-F238E27FC236}">
                <a16:creationId xmlns:a16="http://schemas.microsoft.com/office/drawing/2014/main" id="{FE820806-B1BF-5900-9F20-F2D35FA412A2}"/>
              </a:ext>
            </a:extLst>
          </p:cNvPr>
          <p:cNvSpPr/>
          <p:nvPr/>
        </p:nvSpPr>
        <p:spPr>
          <a:xfrm>
            <a:off x="5919083" y="4100301"/>
            <a:ext cx="2599236" cy="90043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Paper Mill</a:t>
            </a:r>
          </a:p>
        </p:txBody>
      </p:sp>
      <p:sp>
        <p:nvSpPr>
          <p:cNvPr id="48" name="Oval 47">
            <a:extLst>
              <a:ext uri="{FF2B5EF4-FFF2-40B4-BE49-F238E27FC236}">
                <a16:creationId xmlns:a16="http://schemas.microsoft.com/office/drawing/2014/main" id="{21852288-5D90-5A39-C5D8-BFF188C0D2E5}"/>
              </a:ext>
            </a:extLst>
          </p:cNvPr>
          <p:cNvSpPr/>
          <p:nvPr/>
        </p:nvSpPr>
        <p:spPr>
          <a:xfrm>
            <a:off x="9016149" y="3650086"/>
            <a:ext cx="2599236" cy="90043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Power Plant</a:t>
            </a:r>
          </a:p>
        </p:txBody>
      </p:sp>
      <p:sp>
        <p:nvSpPr>
          <p:cNvPr id="49" name="Oval 48">
            <a:extLst>
              <a:ext uri="{FF2B5EF4-FFF2-40B4-BE49-F238E27FC236}">
                <a16:creationId xmlns:a16="http://schemas.microsoft.com/office/drawing/2014/main" id="{52CD1AA9-4CA3-C222-8CD9-BC97FB7EA97D}"/>
              </a:ext>
            </a:extLst>
          </p:cNvPr>
          <p:cNvSpPr/>
          <p:nvPr/>
        </p:nvSpPr>
        <p:spPr>
          <a:xfrm>
            <a:off x="5272043" y="5279325"/>
            <a:ext cx="2599236" cy="900430"/>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Land Fill</a:t>
            </a:r>
          </a:p>
        </p:txBody>
      </p:sp>
      <p:sp>
        <p:nvSpPr>
          <p:cNvPr id="50" name="Oval 49">
            <a:extLst>
              <a:ext uri="{FF2B5EF4-FFF2-40B4-BE49-F238E27FC236}">
                <a16:creationId xmlns:a16="http://schemas.microsoft.com/office/drawing/2014/main" id="{ABBB7353-27E0-C78E-205A-2E0EB4CD10A4}"/>
              </a:ext>
            </a:extLst>
          </p:cNvPr>
          <p:cNvSpPr/>
          <p:nvPr/>
        </p:nvSpPr>
        <p:spPr>
          <a:xfrm>
            <a:off x="8319875" y="4787751"/>
            <a:ext cx="2599236" cy="900430"/>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p>
        </p:txBody>
      </p:sp>
    </p:spTree>
    <p:extLst>
      <p:ext uri="{BB962C8B-B14F-4D97-AF65-F5344CB8AC3E}">
        <p14:creationId xmlns:p14="http://schemas.microsoft.com/office/powerpoint/2010/main" val="1580408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 name="Rectangle 91">
            <a:extLst>
              <a:ext uri="{FF2B5EF4-FFF2-40B4-BE49-F238E27FC236}">
                <a16:creationId xmlns:a16="http://schemas.microsoft.com/office/drawing/2014/main" id="{8E7E1993-6448-42F8-8FB3-76104F45B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3" name="Rectangle 92">
            <a:extLst>
              <a:ext uri="{FF2B5EF4-FFF2-40B4-BE49-F238E27FC236}">
                <a16:creationId xmlns:a16="http://schemas.microsoft.com/office/drawing/2014/main" id="{3CDAD724-AF32-45EC-B0B9-360C73C9D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4" name="Right Triangle 93">
            <a:extLst>
              <a:ext uri="{FF2B5EF4-FFF2-40B4-BE49-F238E27FC236}">
                <a16:creationId xmlns:a16="http://schemas.microsoft.com/office/drawing/2014/main" id="{2391C84E-C2EA-44FC-A7D1-FAE3E2850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408102" y="-284146"/>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5" name="Group 94">
            <a:extLst>
              <a:ext uri="{FF2B5EF4-FFF2-40B4-BE49-F238E27FC236}">
                <a16:creationId xmlns:a16="http://schemas.microsoft.com/office/drawing/2014/main" id="{47B3131A-B518-43E5-A896-E9D654A486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8" name="Straight Connector 57">
              <a:extLst>
                <a:ext uri="{FF2B5EF4-FFF2-40B4-BE49-F238E27FC236}">
                  <a16:creationId xmlns:a16="http://schemas.microsoft.com/office/drawing/2014/main" id="{476355E6-7A00-4B30-A47B-80EF0D0D6B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97D0B06C-9FFD-42E8-B19F-062C248CD7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5291278-5FDA-45C6-B93E-1FA6D9130B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FF95DF7-BFEE-4791-A691-BAF693F38F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7C504F1-5AA9-45F5-9030-22533885AF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D75999E-3496-4713-8046-AC17DB2668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6B91000-D71E-40A8-AA8F-E9BB106A8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A9D188E-6FDB-47DE-A5FB-728E56BD04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D98C242-C677-4CF5-A189-52C3ADAFD7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9D7CD7F-137F-42DC-AFFA-52D9B8DF59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E3C1C05-EF55-47B3-B1D8-549116337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E6BE961-4385-4384-B028-D57AA88EF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98288B9-9DC0-41DF-BDC2-329675E142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A97B8C6-FF63-4B6A-913C-50CB2EB7B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3734427-CEE3-45F9-8CDE-7DC2897161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5443404-2D71-4E54-86D6-DB0D769AA4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C94E908-A14E-4E7A-B4FC-BB9D82FD0F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2E257B4-59EA-43CC-A20C-D2755D26B44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1037FBF-2F84-4578-9624-4E6D107666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26E3BDC-D7FC-4C7E-9F35-1D05C9D54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E39965B-216F-478B-8653-0F7B877C0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2116FC6-1CFC-4E87-8431-E7833BFB7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7829DA6-D97C-490E-BEEF-83832787DE1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495B6D3-A3B6-4636-A210-AFC128284F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2462476-3252-49A1-93CE-4FA22B830CF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3C18803-7708-483D-8CE3-0992784BB5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4024AE-5222-4804-AA42-E7A4C0B970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14FBE75-ECC4-4BB7-92B2-74D6CF6864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7061C60-9F4E-4144-B974-AFB802AF4C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2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8FDCF27-151E-2A31-417F-1B7E153761DA}"/>
              </a:ext>
            </a:extLst>
          </p:cNvPr>
          <p:cNvSpPr>
            <a:spLocks noGrp="1"/>
          </p:cNvSpPr>
          <p:nvPr>
            <p:ph type="title"/>
          </p:nvPr>
        </p:nvSpPr>
        <p:spPr>
          <a:xfrm>
            <a:off x="442475" y="745549"/>
            <a:ext cx="3718767" cy="5531079"/>
          </a:xfrm>
        </p:spPr>
        <p:txBody>
          <a:bodyPr>
            <a:normAutofit/>
          </a:bodyPr>
          <a:lstStyle/>
          <a:p>
            <a:pPr algn="ctr"/>
            <a:r>
              <a:rPr lang="en-US" sz="3600" dirty="0">
                <a:solidFill>
                  <a:schemeClr val="tx2">
                    <a:alpha val="80000"/>
                  </a:schemeClr>
                </a:solidFill>
              </a:rPr>
              <a:t>Source Apportionment Data</a:t>
            </a:r>
          </a:p>
        </p:txBody>
      </p:sp>
      <p:sp>
        <p:nvSpPr>
          <p:cNvPr id="88" name="Rectangle 87">
            <a:extLst>
              <a:ext uri="{FF2B5EF4-FFF2-40B4-BE49-F238E27FC236}">
                <a16:creationId xmlns:a16="http://schemas.microsoft.com/office/drawing/2014/main" id="{BA4D4000-2689-4306-BBA6-BF744AB5F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06893" y="191033"/>
            <a:ext cx="7763540" cy="60655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aphicFrame>
        <p:nvGraphicFramePr>
          <p:cNvPr id="97" name="Content Placeholder 2">
            <a:extLst>
              <a:ext uri="{FF2B5EF4-FFF2-40B4-BE49-F238E27FC236}">
                <a16:creationId xmlns:a16="http://schemas.microsoft.com/office/drawing/2014/main" id="{E2208B08-8CF0-A6DD-BF8A-6876EAEAAAFC}"/>
              </a:ext>
            </a:extLst>
          </p:cNvPr>
          <p:cNvGraphicFramePr>
            <a:graphicFrameLocks noGrp="1"/>
          </p:cNvGraphicFramePr>
          <p:nvPr>
            <p:ph idx="1"/>
            <p:extLst>
              <p:ext uri="{D42A27DB-BD31-4B8C-83A1-F6EECF244321}">
                <p14:modId xmlns:p14="http://schemas.microsoft.com/office/powerpoint/2010/main" val="771068200"/>
              </p:ext>
            </p:extLst>
          </p:nvPr>
        </p:nvGraphicFramePr>
        <p:xfrm>
          <a:off x="4169284" y="350581"/>
          <a:ext cx="7812562" cy="6163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684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AF1B22-BFC0-DD26-B477-6909A44DA90D}"/>
            </a:ext>
          </a:extLst>
        </p:cNvPr>
        <p:cNvGrpSpPr/>
        <p:nvPr/>
      </p:nvGrpSpPr>
      <p:grpSpPr>
        <a:xfrm>
          <a:off x="0" y="0"/>
          <a:ext cx="0" cy="0"/>
          <a:chOff x="0" y="0"/>
          <a:chExt cx="0" cy="0"/>
        </a:xfrm>
      </p:grpSpPr>
      <p:sp useBgFill="1">
        <p:nvSpPr>
          <p:cNvPr id="103" name="Rectangle 102">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7EE60796-BC52-4154-A3A9-773DE8285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ight Triangle 106">
            <a:extLst>
              <a:ext uri="{FF2B5EF4-FFF2-40B4-BE49-F238E27FC236}">
                <a16:creationId xmlns:a16="http://schemas.microsoft.com/office/drawing/2014/main" id="{DA1A4301-6FFC-4C82-A1FA-7634D8CAA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lowchart: Document 108">
            <a:extLst>
              <a:ext uri="{FF2B5EF4-FFF2-40B4-BE49-F238E27FC236}">
                <a16:creationId xmlns:a16="http://schemas.microsoft.com/office/drawing/2014/main" id="{BFEC1042-3FDC-47A3-BCD7-CA9D052F98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1" name="Group 110">
            <a:extLst>
              <a:ext uri="{FF2B5EF4-FFF2-40B4-BE49-F238E27FC236}">
                <a16:creationId xmlns:a16="http://schemas.microsoft.com/office/drawing/2014/main" id="{8323DD1D-77DE-48B2-A0A0-6265801531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12" name="Straight Connector 111">
              <a:extLst>
                <a:ext uri="{FF2B5EF4-FFF2-40B4-BE49-F238E27FC236}">
                  <a16:creationId xmlns:a16="http://schemas.microsoft.com/office/drawing/2014/main" id="{5C230063-C474-48F9-AD35-F649415C22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251EB77-6139-46FD-BABC-8576465948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A8177B72-4955-469C-BAF0-E076263794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C09269C7-DB34-4A8C-BAC9-2496A058B8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FFA42117-D401-4236-8EAA-EC9095D4C6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6746B91E-6053-4974-B374-9D1B8FBD70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ED5DA8D3-12FB-4731-BDBC-93B6113D0C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D16B49A-4893-4729-87B8-9A0B8E592D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406D93EE-2329-4706-89C0-BB6C94A39A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3DC3E76F-2DB4-40DA-8C45-943861B172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F56318F6-E559-4DA6-95C0-D2BB10BA6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83243B57-CFAA-461A-AE56-A61CF60F3A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86AEACE9-7BE6-4FC5-9686-47F15ABA56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DCAE5B4-5700-44A8-91DA-D8415FB04F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F2F9D9C9-D01B-4870-8B33-310D77DF5B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905DDC7F-2142-41F1-B1E3-A37A0B6FD1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1B19576-1AA2-4552-8D7D-831B137814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C504D005-AC5D-4160-8184-5BB45CE004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DA540368-C5A6-4F28-A60E-763362A6E5B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767B4722-C810-495C-BB11-45141E367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83B1706B-6FE4-44FB-B429-E59AE3B16D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F9DD5DAD-1CA2-48BA-94BF-70B1AC2BB5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076A21FA-0159-4468-9737-BDBD342618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0870688F-0FB0-4A4A-9F90-7EAE14CAE2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8F7D7D25-8970-4DD6-A3D7-0D550BA85CF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8B480E32-418E-4DE3-B6E7-2F803A2C75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985F833-A609-4B9C-A0D7-6DF88DB7BA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DAA9A587-B078-4028-A924-4A6DDDA2C4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1E2E5E8E-3025-4C93-9E63-9C47C5BBA99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ADB3752-61B8-20F6-2A03-FA22AC3123A1}"/>
              </a:ext>
            </a:extLst>
          </p:cNvPr>
          <p:cNvSpPr>
            <a:spLocks noGrp="1"/>
          </p:cNvSpPr>
          <p:nvPr>
            <p:ph type="title"/>
          </p:nvPr>
        </p:nvSpPr>
        <p:spPr>
          <a:xfrm>
            <a:off x="5791200" y="732348"/>
            <a:ext cx="5410199" cy="2240735"/>
          </a:xfrm>
        </p:spPr>
        <p:txBody>
          <a:bodyPr>
            <a:normAutofit/>
          </a:bodyPr>
          <a:lstStyle/>
          <a:p>
            <a:pPr algn="ctr"/>
            <a:r>
              <a:rPr lang="en-US" sz="3600" dirty="0">
                <a:solidFill>
                  <a:schemeClr val="tx2"/>
                </a:solidFill>
              </a:rPr>
              <a:t>Source Apportionment Output</a:t>
            </a:r>
          </a:p>
        </p:txBody>
      </p:sp>
      <p:pic>
        <p:nvPicPr>
          <p:cNvPr id="100" name="Graphic 99" descr="Open Source">
            <a:extLst>
              <a:ext uri="{FF2B5EF4-FFF2-40B4-BE49-F238E27FC236}">
                <a16:creationId xmlns:a16="http://schemas.microsoft.com/office/drawing/2014/main" id="{5EC451B8-B01F-160D-A393-3024417B413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7222" y="978211"/>
            <a:ext cx="5009616" cy="5009616"/>
          </a:xfrm>
          <a:prstGeom prst="rect">
            <a:avLst/>
          </a:prstGeom>
        </p:spPr>
      </p:pic>
      <p:sp>
        <p:nvSpPr>
          <p:cNvPr id="4" name="Content Placeholder 3">
            <a:extLst>
              <a:ext uri="{FF2B5EF4-FFF2-40B4-BE49-F238E27FC236}">
                <a16:creationId xmlns:a16="http://schemas.microsoft.com/office/drawing/2014/main" id="{381995DD-018F-4AE5-7163-3D47898C3163}"/>
              </a:ext>
            </a:extLst>
          </p:cNvPr>
          <p:cNvSpPr>
            <a:spLocks noGrp="1"/>
          </p:cNvSpPr>
          <p:nvPr>
            <p:ph idx="1"/>
          </p:nvPr>
        </p:nvSpPr>
        <p:spPr>
          <a:xfrm>
            <a:off x="5791200" y="3264832"/>
            <a:ext cx="5410199" cy="2980124"/>
          </a:xfrm>
        </p:spPr>
        <p:txBody>
          <a:bodyPr>
            <a:normAutofit/>
          </a:bodyPr>
          <a:lstStyle/>
          <a:p>
            <a:pPr marL="0" indent="0">
              <a:buNone/>
            </a:pPr>
            <a:r>
              <a:rPr lang="en-US" sz="1800" dirty="0">
                <a:solidFill>
                  <a:schemeClr val="tx2"/>
                </a:solidFill>
              </a:rPr>
              <a:t>The objective of source apportionment is to produce source profiles and source contribution time-series. </a:t>
            </a:r>
          </a:p>
          <a:p>
            <a:pPr>
              <a:buClrTx/>
            </a:pPr>
            <a:r>
              <a:rPr lang="en-US" sz="1800" dirty="0">
                <a:solidFill>
                  <a:schemeClr val="tx2"/>
                </a:solidFill>
              </a:rPr>
              <a:t>Source Profiles – Feature profiles that represent identifying signature of the source, often considered static.</a:t>
            </a:r>
          </a:p>
          <a:p>
            <a:pPr>
              <a:buClrTx/>
            </a:pPr>
            <a:r>
              <a:rPr lang="en-US" sz="1800" dirty="0">
                <a:solidFill>
                  <a:schemeClr val="tx2"/>
                </a:solidFill>
              </a:rPr>
              <a:t>Source Contributions – How much the source contributions to each sample.</a:t>
            </a:r>
          </a:p>
        </p:txBody>
      </p:sp>
    </p:spTree>
    <p:extLst>
      <p:ext uri="{BB962C8B-B14F-4D97-AF65-F5344CB8AC3E}">
        <p14:creationId xmlns:p14="http://schemas.microsoft.com/office/powerpoint/2010/main" val="3196427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1B315F-7DC6-449F-1D4A-60590A59762B}"/>
            </a:ext>
          </a:extLst>
        </p:cNvPr>
        <p:cNvGrpSpPr/>
        <p:nvPr/>
      </p:nvGrpSpPr>
      <p:grpSpPr>
        <a:xfrm>
          <a:off x="0" y="0"/>
          <a:ext cx="0" cy="0"/>
          <a:chOff x="0" y="0"/>
          <a:chExt cx="0" cy="0"/>
        </a:xfrm>
      </p:grpSpPr>
      <p:sp useBgFill="1">
        <p:nvSpPr>
          <p:cNvPr id="103" name="Rectangle 102">
            <a:extLst>
              <a:ext uri="{FF2B5EF4-FFF2-40B4-BE49-F238E27FC236}">
                <a16:creationId xmlns:a16="http://schemas.microsoft.com/office/drawing/2014/main" id="{E3951172-468A-BBC5-F9E0-CD0250F39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6715D6D6-00E8-CFB8-49AC-36BC4D2B6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ight Triangle 106">
            <a:extLst>
              <a:ext uri="{FF2B5EF4-FFF2-40B4-BE49-F238E27FC236}">
                <a16:creationId xmlns:a16="http://schemas.microsoft.com/office/drawing/2014/main" id="{95E63DE4-4DAD-9FD4-328F-5F03DFD66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lowchart: Document 108">
            <a:extLst>
              <a:ext uri="{FF2B5EF4-FFF2-40B4-BE49-F238E27FC236}">
                <a16:creationId xmlns:a16="http://schemas.microsoft.com/office/drawing/2014/main" id="{2DEAF415-C271-FBAB-ECB1-3A695B125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1" name="Group 110">
            <a:extLst>
              <a:ext uri="{FF2B5EF4-FFF2-40B4-BE49-F238E27FC236}">
                <a16:creationId xmlns:a16="http://schemas.microsoft.com/office/drawing/2014/main" id="{6FC56351-5FC7-9B17-EB84-91684D04F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12" name="Straight Connector 111">
              <a:extLst>
                <a:ext uri="{FF2B5EF4-FFF2-40B4-BE49-F238E27FC236}">
                  <a16:creationId xmlns:a16="http://schemas.microsoft.com/office/drawing/2014/main" id="{4836AEA9-4604-0141-6959-9201A54F58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660BF2F-C315-C7EE-7C37-976F3899A6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90F6894C-3A36-9265-9693-80C6278B75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559E1B4-EC5B-4628-6724-0D59ACD58B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D40BAB2-1B6F-E346-6A66-1C1FC0F58C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0C22EBB4-7AC8-5EE3-3F22-50E8EF19AA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EE49BD65-6458-BEC4-686F-17B9F74985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D2459BB8-607F-3688-7486-B34D2DFEFA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E40A8701-3694-9B77-235D-75C8A31ECF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276A1482-9FCF-0410-7816-19095D2A83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E644D10-A389-E59F-67F0-7B5BF6B027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779F42AE-B339-64B9-D3B0-20EC8494AE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C1F57692-D471-70B4-814F-CF45286ECE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E074E619-DCB3-FF2B-28D9-B82D3EC7EF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595DA84D-3107-540D-2EE3-9E4665BA30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FC1D067-0D7D-32AA-9460-9C6DB125E5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013CFE45-28F3-A0EF-3155-F9C00F8C92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81929A23-0381-1AF3-49B1-8FA8CE04C7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E74ADBBE-5348-45D6-EBB3-592FA5F94B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8165E80-43E9-7C15-9990-A957FD8AF2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A9A69E94-4D6A-D175-863A-25FFEC0519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8880818A-0C6D-489B-CEB4-8BFC2761968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57ECBE25-BB46-CD5B-B94F-EB297B7EE0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A91D3CF6-A097-A040-0C3E-6244A66CBF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15FB0FD7-61A2-ADD5-86F2-C02656932A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E6337FF-3C59-6ED9-0EF5-739CBC86C1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0DE7B2D9-2AA9-1871-6833-4951C85FA7C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2A587B5-32C5-0884-3CBD-6ED1C250AF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F492CC12-0311-8F97-E60D-50BBA76AF7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9BC678B-4234-0DFE-811F-2C1438B6DA43}"/>
              </a:ext>
            </a:extLst>
          </p:cNvPr>
          <p:cNvSpPr>
            <a:spLocks noGrp="1"/>
          </p:cNvSpPr>
          <p:nvPr>
            <p:ph type="title"/>
          </p:nvPr>
        </p:nvSpPr>
        <p:spPr>
          <a:xfrm>
            <a:off x="1099021" y="85054"/>
            <a:ext cx="10192698" cy="2240735"/>
          </a:xfrm>
        </p:spPr>
        <p:txBody>
          <a:bodyPr>
            <a:normAutofit/>
          </a:bodyPr>
          <a:lstStyle/>
          <a:p>
            <a:pPr algn="ctr"/>
            <a:r>
              <a:rPr lang="en-US" sz="3600" dirty="0">
                <a:solidFill>
                  <a:schemeClr val="tx2"/>
                </a:solidFill>
              </a:rPr>
              <a:t>Data</a:t>
            </a:r>
          </a:p>
        </p:txBody>
      </p:sp>
      <p:sp>
        <p:nvSpPr>
          <p:cNvPr id="4" name="Content Placeholder 3">
            <a:extLst>
              <a:ext uri="{FF2B5EF4-FFF2-40B4-BE49-F238E27FC236}">
                <a16:creationId xmlns:a16="http://schemas.microsoft.com/office/drawing/2014/main" id="{47043BD6-CBF8-CE8C-FCCC-4A19478A50E4}"/>
              </a:ext>
            </a:extLst>
          </p:cNvPr>
          <p:cNvSpPr>
            <a:spLocks noGrp="1"/>
          </p:cNvSpPr>
          <p:nvPr>
            <p:ph idx="1"/>
          </p:nvPr>
        </p:nvSpPr>
        <p:spPr>
          <a:xfrm>
            <a:off x="627189" y="2015003"/>
            <a:ext cx="10574211" cy="4229953"/>
          </a:xfrm>
        </p:spPr>
        <p:txBody>
          <a:bodyPr>
            <a:normAutofit/>
          </a:bodyPr>
          <a:lstStyle/>
          <a:p>
            <a:pPr marL="0" indent="0">
              <a:buNone/>
            </a:pPr>
            <a:r>
              <a:rPr lang="en-US" sz="1800" dirty="0">
                <a:solidFill>
                  <a:schemeClr val="tx2"/>
                </a:solidFill>
              </a:rPr>
              <a:t>Three sample datasets are available for this project. Each dataset represents air quality data measurements taken from a single location at irregular </a:t>
            </a:r>
            <a:r>
              <a:rPr lang="en-US" sz="1800">
                <a:solidFill>
                  <a:schemeClr val="tx2"/>
                </a:solidFill>
              </a:rPr>
              <a:t>time intervals.</a:t>
            </a:r>
            <a:endParaRPr lang="en-US" sz="1800" dirty="0">
              <a:solidFill>
                <a:schemeClr val="tx2"/>
              </a:solidFill>
            </a:endParaRPr>
          </a:p>
          <a:p>
            <a:pPr marL="0" indent="0">
              <a:buNone/>
            </a:pPr>
            <a:r>
              <a:rPr lang="en-US" sz="1800" dirty="0">
                <a:solidFill>
                  <a:schemeClr val="tx2"/>
                </a:solidFill>
              </a:rPr>
              <a:t>Baton Rouge – The data was downloaded from the EPA Air Quality System. The data contains 307 samples and 41 features, collected from a Photochemical Air Monitoring Station (PAMS) between the dates June-August 2005 and June-September 2007. The input and uncertainty data files are comma separate list (csv).</a:t>
            </a:r>
          </a:p>
          <a:p>
            <a:pPr marL="0" indent="0">
              <a:buNone/>
            </a:pPr>
            <a:r>
              <a:rPr lang="en-US" sz="1800" dirty="0">
                <a:solidFill>
                  <a:schemeClr val="tx2"/>
                </a:solidFill>
              </a:rPr>
              <a:t>St Louis – The data is taken from the East St. Louis Supersite (Superfund site) during June 2001, November 2001, and March 2002. The data contains 418 samples and 13 features. The input and uncertainty data files are csv files.</a:t>
            </a:r>
          </a:p>
          <a:p>
            <a:pPr marL="0" indent="0">
              <a:buNone/>
            </a:pPr>
            <a:r>
              <a:rPr lang="en-US" sz="1800" dirty="0">
                <a:solidFill>
                  <a:schemeClr val="tx2"/>
                </a:solidFill>
              </a:rPr>
              <a:t>Baltimore – The data contains 630 samples and 26 features. The data represents particulate matter (PM) measurements taken from December 2000 to July 2007. The input and uncertainty data are .txt files, which are tab separated.</a:t>
            </a:r>
          </a:p>
          <a:p>
            <a:pPr marL="0" indent="0">
              <a:buNone/>
            </a:pPr>
            <a:endParaRPr lang="en-US" sz="1800" dirty="0">
              <a:solidFill>
                <a:schemeClr val="tx2"/>
              </a:solidFill>
            </a:endParaRPr>
          </a:p>
        </p:txBody>
      </p:sp>
    </p:spTree>
    <p:extLst>
      <p:ext uri="{BB962C8B-B14F-4D97-AF65-F5344CB8AC3E}">
        <p14:creationId xmlns:p14="http://schemas.microsoft.com/office/powerpoint/2010/main" val="2800418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28E0BD-5396-8933-0FCA-43A55947C9E5}"/>
            </a:ext>
          </a:extLst>
        </p:cNvPr>
        <p:cNvGrpSpPr/>
        <p:nvPr/>
      </p:nvGrpSpPr>
      <p:grpSpPr>
        <a:xfrm>
          <a:off x="0" y="0"/>
          <a:ext cx="0" cy="0"/>
          <a:chOff x="0" y="0"/>
          <a:chExt cx="0" cy="0"/>
        </a:xfrm>
      </p:grpSpPr>
      <p:sp useBgFill="1">
        <p:nvSpPr>
          <p:cNvPr id="103" name="Rectangle 102">
            <a:extLst>
              <a:ext uri="{FF2B5EF4-FFF2-40B4-BE49-F238E27FC236}">
                <a16:creationId xmlns:a16="http://schemas.microsoft.com/office/drawing/2014/main" id="{6E065BB3-DFE8-D9FD-2180-3EE0D6CD5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5" name="Rectangle 104">
            <a:extLst>
              <a:ext uri="{FF2B5EF4-FFF2-40B4-BE49-F238E27FC236}">
                <a16:creationId xmlns:a16="http://schemas.microsoft.com/office/drawing/2014/main" id="{0CCBFCF8-1AB3-11D7-E7D9-BEC8EAD843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7" name="Right Triangle 106">
            <a:extLst>
              <a:ext uri="{FF2B5EF4-FFF2-40B4-BE49-F238E27FC236}">
                <a16:creationId xmlns:a16="http://schemas.microsoft.com/office/drawing/2014/main" id="{F9303601-9F49-D819-981D-BCACB59F3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51324" y="1555703"/>
            <a:ext cx="568289" cy="568289"/>
          </a:xfrm>
          <a:prstGeom prst="rtTriangle">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lowchart: Document 108">
            <a:extLst>
              <a:ext uri="{FF2B5EF4-FFF2-40B4-BE49-F238E27FC236}">
                <a16:creationId xmlns:a16="http://schemas.microsoft.com/office/drawing/2014/main" id="{B7FFC004-468E-8D70-96E2-3DEAF7657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744293" y="1744296"/>
            <a:ext cx="6858000" cy="3369413"/>
          </a:xfrm>
          <a:prstGeom prst="flowChartDocument">
            <a:avLst/>
          </a:prstGeom>
          <a:solidFill>
            <a:schemeClr val="accent6">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111" name="Group 110">
            <a:extLst>
              <a:ext uri="{FF2B5EF4-FFF2-40B4-BE49-F238E27FC236}">
                <a16:creationId xmlns:a16="http://schemas.microsoft.com/office/drawing/2014/main" id="{22F8A03F-6471-613C-ED36-86554DDD03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14827" cy="6858000"/>
            <a:chOff x="-6214" y="-1"/>
            <a:chExt cx="12214827" cy="6858000"/>
          </a:xfrm>
        </p:grpSpPr>
        <p:cxnSp>
          <p:nvCxnSpPr>
            <p:cNvPr id="112" name="Straight Connector 111">
              <a:extLst>
                <a:ext uri="{FF2B5EF4-FFF2-40B4-BE49-F238E27FC236}">
                  <a16:creationId xmlns:a16="http://schemas.microsoft.com/office/drawing/2014/main" id="{1DA2CDF9-035B-1B9E-59BA-4C0372F9B79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4D27E950-FFEE-C3A7-C83D-335F638C60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8CA568E0-626F-0702-1452-805671F0A9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2D35E6C-5F15-BA91-BB68-5BFB4D8C6E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8286467B-0A8F-F513-42FC-CEDE1DCC59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196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B3091BCB-AA4F-DAF9-F765-6F4007DA56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9140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36E836D1-C270-91CF-612E-AA52E432FE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9084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39D43C94-697B-C1A6-59CF-2A18B60F21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9028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BAF05B6-0490-6F6C-8034-C8A06078366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8971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4AF9A7F-2A53-5B6F-E642-D6FC370C08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18915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10EB960A-4B68-B7F8-F0F3-4B78F2754B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188594"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EF2B926B-90FF-AF39-9749-CDBC80D8EA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188032"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DCAC8381-A79A-7561-EB59-ED201FA717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187470"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804CE630-6C52-F326-DF06-2C55E25BB5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186908"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6BC9E9C1-7019-9C7F-C240-D20751B2D3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18634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6199DD51-CBA4-DBD4-40D8-846C6CBDFC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99E266CF-47A9-40E1-4B78-C07821BF3D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11BEC7C-B40D-1AF4-55BD-6A204B1324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2890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CF90ADEE-40CA-63E3-68CC-B771502053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8609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52F2D256-A154-6667-5120-1396576E0FC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4328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D78A4BF4-DF97-676D-5F94-1E7594E852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40047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FBDE95D-350C-5C62-C6FF-7031C61CE7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95766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EAF055D5-0868-21AC-5800-5349D3F670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51485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ABC25841-D1AC-1A65-DFB2-758EC9C9C9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07204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A5529BF-0598-0545-399C-141104327E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62923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C2D14A49-F707-C32F-A86E-49AB1D12C89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18642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75B4DA6-0E18-2EDF-401D-58026E8DC9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743616"/>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64E7E679-F8EB-BE1E-533B-EF414C4B3B1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E126FEA-1AE7-5EED-7009-B282B0385F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248400"/>
              <a:ext cx="12192000" cy="0"/>
            </a:xfrm>
            <a:prstGeom prst="line">
              <a:avLst/>
            </a:prstGeom>
            <a:ln w="19050">
              <a:solidFill>
                <a:schemeClr val="accent2">
                  <a:alpha val="1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82CAA30-CF10-5F4E-84AD-7F7F733D9E67}"/>
              </a:ext>
            </a:extLst>
          </p:cNvPr>
          <p:cNvSpPr>
            <a:spLocks noGrp="1"/>
          </p:cNvSpPr>
          <p:nvPr>
            <p:ph type="title"/>
          </p:nvPr>
        </p:nvSpPr>
        <p:spPr>
          <a:xfrm>
            <a:off x="1080461" y="129466"/>
            <a:ext cx="10076731" cy="2240735"/>
          </a:xfrm>
        </p:spPr>
        <p:txBody>
          <a:bodyPr>
            <a:normAutofit/>
          </a:bodyPr>
          <a:lstStyle/>
          <a:p>
            <a:pPr algn="ctr"/>
            <a:r>
              <a:rPr lang="en-US" sz="3600" dirty="0">
                <a:solidFill>
                  <a:schemeClr val="tx2"/>
                </a:solidFill>
              </a:rPr>
              <a:t>Research Objectives</a:t>
            </a:r>
          </a:p>
        </p:txBody>
      </p:sp>
      <p:graphicFrame>
        <p:nvGraphicFramePr>
          <p:cNvPr id="142" name="Content Placeholder 3">
            <a:extLst>
              <a:ext uri="{FF2B5EF4-FFF2-40B4-BE49-F238E27FC236}">
                <a16:creationId xmlns:a16="http://schemas.microsoft.com/office/drawing/2014/main" id="{AA3A9326-1778-923C-3814-A27F042FA08D}"/>
              </a:ext>
            </a:extLst>
          </p:cNvPr>
          <p:cNvGraphicFramePr>
            <a:graphicFrameLocks noGrp="1"/>
          </p:cNvGraphicFramePr>
          <p:nvPr>
            <p:ph idx="1"/>
            <p:extLst>
              <p:ext uri="{D42A27DB-BD31-4B8C-83A1-F6EECF244321}">
                <p14:modId xmlns:p14="http://schemas.microsoft.com/office/powerpoint/2010/main" val="2309597653"/>
              </p:ext>
            </p:extLst>
          </p:nvPr>
        </p:nvGraphicFramePr>
        <p:xfrm>
          <a:off x="966057" y="2015003"/>
          <a:ext cx="10305537" cy="3765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C5FF597E-F374-F53F-11EE-C5D999480C8E}"/>
              </a:ext>
            </a:extLst>
          </p:cNvPr>
          <p:cNvSpPr txBox="1"/>
          <p:nvPr/>
        </p:nvSpPr>
        <p:spPr>
          <a:xfrm>
            <a:off x="2367973" y="5983884"/>
            <a:ext cx="7453006" cy="369332"/>
          </a:xfrm>
          <a:prstGeom prst="rect">
            <a:avLst/>
          </a:prstGeom>
          <a:noFill/>
        </p:spPr>
        <p:txBody>
          <a:bodyPr wrap="square" rtlCol="0">
            <a:spAutoFit/>
          </a:bodyPr>
          <a:lstStyle/>
          <a:p>
            <a:pPr algn="ctr"/>
            <a:r>
              <a:rPr lang="en-US" dirty="0"/>
              <a:t>Contact Information: </a:t>
            </a:r>
            <a:r>
              <a:rPr lang="en-US" dirty="0">
                <a:hlinkClick r:id="rId7"/>
              </a:rPr>
              <a:t>smith.deron@epa.gov</a:t>
            </a:r>
            <a:endParaRPr lang="en-US" dirty="0"/>
          </a:p>
        </p:txBody>
      </p:sp>
    </p:spTree>
    <p:extLst>
      <p:ext uri="{BB962C8B-B14F-4D97-AF65-F5344CB8AC3E}">
        <p14:creationId xmlns:p14="http://schemas.microsoft.com/office/powerpoint/2010/main" val="2418443219"/>
      </p:ext>
    </p:extLst>
  </p:cSld>
  <p:clrMapOvr>
    <a:masterClrMapping/>
  </p:clrMapOvr>
</p:sld>
</file>

<file path=ppt/theme/theme1.xml><?xml version="1.0" encoding="utf-8"?>
<a:theme xmlns:a="http://schemas.openxmlformats.org/drawingml/2006/main" name="Sine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49">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neVTI" id="{8435B2A2-1BD5-4C05-93E5-3C5388B709E3}" vid="{0D704B13-63FE-4848-A298-6B7359B95653}"/>
    </a:ext>
  </a:extLst>
</a:theme>
</file>

<file path=docProps/app.xml><?xml version="1.0" encoding="utf-8"?>
<Properties xmlns="http://schemas.openxmlformats.org/officeDocument/2006/extended-properties" xmlns:vt="http://schemas.openxmlformats.org/officeDocument/2006/docPropsVTypes">
  <TotalTime>210</TotalTime>
  <Words>490</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Avenir Next LT Pro</vt:lpstr>
      <vt:lpstr>Calibri</vt:lpstr>
      <vt:lpstr>Posterama</vt:lpstr>
      <vt:lpstr>SineVTI</vt:lpstr>
      <vt:lpstr>Deron Smith Computer Scientist  US Environmental Protection Agency</vt:lpstr>
      <vt:lpstr>Project: Source Apportionment</vt:lpstr>
      <vt:lpstr>Source Apportionment Data</vt:lpstr>
      <vt:lpstr>Source Apportionment Output</vt:lpstr>
      <vt:lpstr>Data</vt:lpstr>
      <vt:lpstr>Research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Smith, Deron</dc:creator>
  <cp:lastModifiedBy>Smith, Deron</cp:lastModifiedBy>
  <cp:revision>1</cp:revision>
  <dcterms:created xsi:type="dcterms:W3CDTF">2025-09-15T13:33:32Z</dcterms:created>
  <dcterms:modified xsi:type="dcterms:W3CDTF">2025-09-17T12:20:12Z</dcterms:modified>
</cp:coreProperties>
</file>